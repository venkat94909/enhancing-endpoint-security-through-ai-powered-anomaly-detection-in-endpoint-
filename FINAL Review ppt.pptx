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60" r:id="rId6"/>
    <p:sldId id="262" r:id="rId7"/>
    <p:sldId id="263" r:id="rId8"/>
    <p:sldId id="264" r:id="rId9"/>
    <p:sldId id="261" r:id="rId10"/>
    <p:sldId id="265" r:id="rId11"/>
    <p:sldId id="266" r:id="rId12"/>
    <p:sldId id="270" r:id="rId13"/>
    <p:sldId id="272" r:id="rId14"/>
    <p:sldId id="268" r:id="rId15"/>
    <p:sldId id="269"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607CA2-1053-4EF9-9164-841222CF1C09}" v="1" dt="2025-03-20T06:49:58.8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na sai" userId="d4069fffbf7b08cf" providerId="LiveId" clId="{16607CA2-1053-4EF9-9164-841222CF1C09}"/>
    <pc:docChg chg="undo custSel addSld delSld modSld">
      <pc:chgData name="krishna sai" userId="d4069fffbf7b08cf" providerId="LiveId" clId="{16607CA2-1053-4EF9-9164-841222CF1C09}" dt="2025-03-24T08:25:59.954" v="72" actId="20577"/>
      <pc:docMkLst>
        <pc:docMk/>
      </pc:docMkLst>
      <pc:sldChg chg="modSp mod">
        <pc:chgData name="krishna sai" userId="d4069fffbf7b08cf" providerId="LiveId" clId="{16607CA2-1053-4EF9-9164-841222CF1C09}" dt="2025-03-24T08:25:59.954" v="72" actId="20577"/>
        <pc:sldMkLst>
          <pc:docMk/>
          <pc:sldMk cId="1205130720" sldId="256"/>
        </pc:sldMkLst>
        <pc:spChg chg="mod">
          <ac:chgData name="krishna sai" userId="d4069fffbf7b08cf" providerId="LiveId" clId="{16607CA2-1053-4EF9-9164-841222CF1C09}" dt="2025-03-24T08:25:59.954" v="72" actId="20577"/>
          <ac:spMkLst>
            <pc:docMk/>
            <pc:sldMk cId="1205130720" sldId="256"/>
            <ac:spMk id="2" creationId="{CD032136-6F1C-4201-CF3E-B06A4C13F172}"/>
          </ac:spMkLst>
        </pc:spChg>
      </pc:sldChg>
      <pc:sldChg chg="modSp mod">
        <pc:chgData name="krishna sai" userId="d4069fffbf7b08cf" providerId="LiveId" clId="{16607CA2-1053-4EF9-9164-841222CF1C09}" dt="2025-03-20T06:47:46.279" v="1" actId="14100"/>
        <pc:sldMkLst>
          <pc:docMk/>
          <pc:sldMk cId="2713785680" sldId="261"/>
        </pc:sldMkLst>
        <pc:picChg chg="mod">
          <ac:chgData name="krishna sai" userId="d4069fffbf7b08cf" providerId="LiveId" clId="{16607CA2-1053-4EF9-9164-841222CF1C09}" dt="2025-03-20T06:47:46.279" v="1" actId="14100"/>
          <ac:picMkLst>
            <pc:docMk/>
            <pc:sldMk cId="2713785680" sldId="261"/>
            <ac:picMk id="5" creationId="{AB8BCBEE-5FA1-D91A-CB05-F69C32F010DD}"/>
          </ac:picMkLst>
        </pc:picChg>
      </pc:sldChg>
      <pc:sldChg chg="modSp mod">
        <pc:chgData name="krishna sai" userId="d4069fffbf7b08cf" providerId="LiveId" clId="{16607CA2-1053-4EF9-9164-841222CF1C09}" dt="2025-03-24T05:56:25.359" v="69" actId="1036"/>
        <pc:sldMkLst>
          <pc:docMk/>
          <pc:sldMk cId="2412803116" sldId="265"/>
        </pc:sldMkLst>
        <pc:picChg chg="mod">
          <ac:chgData name="krishna sai" userId="d4069fffbf7b08cf" providerId="LiveId" clId="{16607CA2-1053-4EF9-9164-841222CF1C09}" dt="2025-03-24T05:56:25.359" v="69" actId="1036"/>
          <ac:picMkLst>
            <pc:docMk/>
            <pc:sldMk cId="2412803116" sldId="265"/>
            <ac:picMk id="5" creationId="{396B47FA-DD39-E1D2-02CC-BC5A69DAFB1C}"/>
          </ac:picMkLst>
        </pc:picChg>
        <pc:picChg chg="mod">
          <ac:chgData name="krishna sai" userId="d4069fffbf7b08cf" providerId="LiveId" clId="{16607CA2-1053-4EF9-9164-841222CF1C09}" dt="2025-03-20T06:48:18.251" v="4" actId="1076"/>
          <ac:picMkLst>
            <pc:docMk/>
            <pc:sldMk cId="2412803116" sldId="265"/>
            <ac:picMk id="6" creationId="{E04B04AC-AB27-F1E6-61EA-C98F7284DFB2}"/>
          </ac:picMkLst>
        </pc:picChg>
        <pc:picChg chg="mod">
          <ac:chgData name="krishna sai" userId="d4069fffbf7b08cf" providerId="LiveId" clId="{16607CA2-1053-4EF9-9164-841222CF1C09}" dt="2025-03-20T06:48:21.057" v="5" actId="1076"/>
          <ac:picMkLst>
            <pc:docMk/>
            <pc:sldMk cId="2412803116" sldId="265"/>
            <ac:picMk id="7" creationId="{240242EC-5919-D071-C35F-E65ABB9A7331}"/>
          </ac:picMkLst>
        </pc:picChg>
      </pc:sldChg>
      <pc:sldChg chg="del">
        <pc:chgData name="krishna sai" userId="d4069fffbf7b08cf" providerId="LiveId" clId="{16607CA2-1053-4EF9-9164-841222CF1C09}" dt="2025-03-24T05:57:47.191" v="70" actId="2696"/>
        <pc:sldMkLst>
          <pc:docMk/>
          <pc:sldMk cId="2231639470" sldId="267"/>
        </pc:sldMkLst>
      </pc:sldChg>
      <pc:sldChg chg="modSp new mod">
        <pc:chgData name="krishna sai" userId="d4069fffbf7b08cf" providerId="LiveId" clId="{16607CA2-1053-4EF9-9164-841222CF1C09}" dt="2025-03-20T06:51:09.676" v="28" actId="12"/>
        <pc:sldMkLst>
          <pc:docMk/>
          <pc:sldMk cId="3707482525" sldId="269"/>
        </pc:sldMkLst>
        <pc:spChg chg="mod">
          <ac:chgData name="krishna sai" userId="d4069fffbf7b08cf" providerId="LiveId" clId="{16607CA2-1053-4EF9-9164-841222CF1C09}" dt="2025-03-20T06:50:08.440" v="21" actId="14100"/>
          <ac:spMkLst>
            <pc:docMk/>
            <pc:sldMk cId="3707482525" sldId="269"/>
            <ac:spMk id="2" creationId="{20FC3E1D-FF2D-50E3-FCAC-BEEB30C845A0}"/>
          </ac:spMkLst>
        </pc:spChg>
        <pc:spChg chg="mod">
          <ac:chgData name="krishna sai" userId="d4069fffbf7b08cf" providerId="LiveId" clId="{16607CA2-1053-4EF9-9164-841222CF1C09}" dt="2025-03-20T06:51:09.676" v="28" actId="12"/>
          <ac:spMkLst>
            <pc:docMk/>
            <pc:sldMk cId="3707482525" sldId="269"/>
            <ac:spMk id="3" creationId="{048AE044-D03A-B037-E18F-DD205394C32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374813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7DE6118-2437-4B30-8E3C-4D2BE6020583}" type="datetimeFigureOut">
              <a:rPr lang="en-US" smtClean="0"/>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746948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844963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5/6/2025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210007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5/6/2025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573286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7DE6118-2437-4B30-8E3C-4D2BE6020583}" type="datetimeFigureOut">
              <a:rPr lang="en-US" smtClean="0"/>
              <a:t>5/6/2025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76415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7DE6118-2437-4B30-8E3C-4D2BE6020583}" type="datetimeFigureOut">
              <a:rPr lang="en-US" smtClean="0"/>
              <a:t>5/6/2025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4704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256094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929649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145019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8008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98651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527517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623013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7DE6118-2437-4B30-8E3C-4D2BE6020583}" type="datetimeFigureOut">
              <a:rPr lang="en-US" smtClean="0"/>
              <a:pPr/>
              <a:t>5/6/2025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1375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8636751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760927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7DE6118-2437-4B30-8E3C-4D2BE6020583}" type="datetimeFigureOut">
              <a:rPr lang="en-US" smtClean="0"/>
              <a:pPr/>
              <a:t>5/6/2025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60678192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fei"/><Relationship Id="rId3" Type="http://schemas.openxmlformats.org/officeDocument/2006/relationships/hyperlink" Target="#li"/><Relationship Id="rId7" Type="http://schemas.openxmlformats.org/officeDocument/2006/relationships/hyperlink" Target="#zhang"/><Relationship Id="rId2" Type="http://schemas.openxmlformats.org/officeDocument/2006/relationships/hyperlink" Target="#himler"/><Relationship Id="rId1" Type="http://schemas.openxmlformats.org/officeDocument/2006/relationships/slideLayout" Target="../slideLayouts/slideLayout2.xml"/><Relationship Id="rId6" Type="http://schemas.openxmlformats.org/officeDocument/2006/relationships/hyperlink" Target="#shu"/><Relationship Id="rId5" Type="http://schemas.openxmlformats.org/officeDocument/2006/relationships/hyperlink" Target="#huang"/><Relationship Id="rId4" Type="http://schemas.openxmlformats.org/officeDocument/2006/relationships/hyperlink" Target="#bin"/><Relationship Id="rId9" Type="http://schemas.openxmlformats.org/officeDocument/2006/relationships/hyperlink" Target="#trivedi"/></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32136-6F1C-4201-CF3E-B06A4C13F172}"/>
              </a:ext>
            </a:extLst>
          </p:cNvPr>
          <p:cNvSpPr>
            <a:spLocks noGrp="1"/>
          </p:cNvSpPr>
          <p:nvPr>
            <p:ph type="ctrTitle"/>
          </p:nvPr>
        </p:nvSpPr>
        <p:spPr>
          <a:xfrm>
            <a:off x="1915128" y="1474839"/>
            <a:ext cx="8361229" cy="2094271"/>
          </a:xfrm>
        </p:spPr>
        <p:txBody>
          <a:bodyPr/>
          <a:lstStyle/>
          <a:p>
            <a:r>
              <a:rPr lang="en-US" sz="3200" dirty="0">
                <a:latin typeface="Times New Roman" panose="02020603050405020304" pitchFamily="18" charset="0"/>
                <a:ea typeface="Cambria Math" panose="02040503050406030204" pitchFamily="18" charset="0"/>
                <a:cs typeface="Times New Roman" panose="02020603050405020304" pitchFamily="18" charset="0"/>
              </a:rPr>
              <a:t>ENHANCING ENDPOINT SECURITY THROUGH AI POWERED ANOMALY DETECTION IN ENDPOINT LOGS USING LOCAL OUTLIER FACTOR (LOF)</a:t>
            </a:r>
            <a:endParaRPr lang="en-US"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E89844F-6D2A-E1E6-E47D-6E115B7C801C}"/>
              </a:ext>
            </a:extLst>
          </p:cNvPr>
          <p:cNvSpPr>
            <a:spLocks noGrp="1"/>
          </p:cNvSpPr>
          <p:nvPr>
            <p:ph type="subTitle" idx="1"/>
          </p:nvPr>
        </p:nvSpPr>
        <p:spPr>
          <a:xfrm>
            <a:off x="2679906" y="3956279"/>
            <a:ext cx="6831673" cy="1598947"/>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TEAM MEMBERS </a:t>
            </a:r>
          </a:p>
          <a:p>
            <a:r>
              <a:rPr lang="en-US" dirty="0">
                <a:latin typeface="Times New Roman" panose="02020603050405020304" pitchFamily="18" charset="0"/>
                <a:cs typeface="Times New Roman" panose="02020603050405020304" pitchFamily="18" charset="0"/>
              </a:rPr>
              <a:t>P. Krishna Sai -9921004578</a:t>
            </a:r>
          </a:p>
          <a:p>
            <a:r>
              <a:rPr lang="en-US" dirty="0">
                <a:latin typeface="Times New Roman" panose="02020603050405020304" pitchFamily="18" charset="0"/>
                <a:cs typeface="Times New Roman" panose="02020603050405020304" pitchFamily="18" charset="0"/>
              </a:rPr>
              <a:t>Y. Subhan Basha-9921004795</a:t>
            </a:r>
          </a:p>
          <a:p>
            <a:r>
              <a:rPr lang="en-US" dirty="0">
                <a:latin typeface="Times New Roman" panose="02020603050405020304" pitchFamily="18" charset="0"/>
                <a:cs typeface="Times New Roman" panose="02020603050405020304" pitchFamily="18" charset="0"/>
              </a:rPr>
              <a:t>Shaik Sohel-9921004817</a:t>
            </a:r>
          </a:p>
          <a:p>
            <a:r>
              <a:rPr lang="en-US" dirty="0">
                <a:latin typeface="Times New Roman" panose="02020603050405020304" pitchFamily="18" charset="0"/>
                <a:cs typeface="Times New Roman" panose="02020603050405020304" pitchFamily="18" charset="0"/>
              </a:rPr>
              <a:t>Y. Venkateshwara Reddy-9921004789</a:t>
            </a:r>
          </a:p>
          <a:p>
            <a:endParaRPr lang="en-US" dirty="0"/>
          </a:p>
        </p:txBody>
      </p:sp>
    </p:spTree>
    <p:extLst>
      <p:ext uri="{BB962C8B-B14F-4D97-AF65-F5344CB8AC3E}">
        <p14:creationId xmlns:p14="http://schemas.microsoft.com/office/powerpoint/2010/main" val="1205130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699F6-8582-A82D-E660-E1B16E2CA00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9CA96EA6-24FF-D537-5037-74B2E05CFE0B}"/>
              </a:ext>
            </a:extLst>
          </p:cNvPr>
          <p:cNvSpPr>
            <a:spLocks noGrp="1"/>
          </p:cNvSpPr>
          <p:nvPr>
            <p:ph idx="1"/>
          </p:nvPr>
        </p:nvSpPr>
        <p:spPr>
          <a:xfrm>
            <a:off x="1371600" y="1700981"/>
            <a:ext cx="9601200" cy="4166419"/>
          </a:xfrm>
        </p:spPr>
        <p:txBody>
          <a:bodyPr>
            <a:normAutofit/>
          </a:bodyPr>
          <a:lstStyle/>
          <a:p>
            <a:pPr algn="just"/>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In today’s digital era cybersecurity landscape, endpoint security remains a critical concern due to the increasing sophistication of cyber threats. This study explores anomaly detection using AI-powered techniques to enhance endpoint security by identifying malicious login attempts. We utilize the BETH dataset, publicly available, which contains authentication logs and security event data, enabling a comprehensive analysis of user behavior and potential threats. We utilize Three machine learning classifiers that is One-Class SVM, Isolation Forest, and Local Outlier Factor (LOF) were employed</a:t>
            </a:r>
            <a:r>
              <a:rPr lang="en-US" sz="1800" b="1"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1800" b="1"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anomaly</a:t>
            </a:r>
            <a:r>
              <a:rPr lang="en-US" sz="1800" b="1"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detection.</a:t>
            </a:r>
          </a:p>
          <a:p>
            <a:pPr algn="just"/>
            <a:r>
              <a:rPr lang="en-US" sz="1800" b="1"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Additionally,</a:t>
            </a:r>
            <a:r>
              <a:rPr lang="en-US" sz="1800" b="1"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outlier</a:t>
            </a:r>
            <a:r>
              <a:rPr lang="en-US" sz="1800" b="1"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detection techniques, such as box plots, were applied to visualize and analyze</a:t>
            </a:r>
            <a:r>
              <a:rPr lang="en-US" sz="18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data anomalies. The</a:t>
            </a:r>
            <a:r>
              <a:rPr lang="en-US" sz="18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results</a:t>
            </a:r>
            <a:r>
              <a:rPr lang="en-US" sz="18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indicate</a:t>
            </a:r>
            <a:r>
              <a:rPr lang="en-US" sz="18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that density-based anomaly detection methods outperform traditional approaches in identifying security threats. This research proposed the efficiency</a:t>
            </a:r>
            <a:r>
              <a:rPr lang="en-US" sz="1800" b="1"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of AI-based anomaly detection in cybersecurity and underscores the potential of machine learning for real-time Anomaly detection.</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797750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81DB-50F7-DE47-94EF-69345E9A05D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6845AB61-3E3E-BE88-8B7D-75C204D12389}"/>
              </a:ext>
            </a:extLst>
          </p:cNvPr>
          <p:cNvSpPr>
            <a:spLocks noGrp="1"/>
          </p:cNvSpPr>
          <p:nvPr>
            <p:ph idx="1"/>
          </p:nvPr>
        </p:nvSpPr>
        <p:spPr>
          <a:xfrm>
            <a:off x="1219200" y="1347019"/>
            <a:ext cx="9753600" cy="5132439"/>
          </a:xfrm>
        </p:spPr>
        <p:txBody>
          <a:bodyPr>
            <a:normAutofit/>
          </a:bodyPr>
          <a:lstStyle/>
          <a:p>
            <a:pPr algn="just"/>
            <a:r>
              <a:rPr lang="en-US" sz="1600" dirty="0">
                <a:latin typeface="Times New Roman" panose="02020603050405020304" pitchFamily="18" charset="0"/>
                <a:cs typeface="Times New Roman" panose="02020603050405020304" pitchFamily="18" charset="0"/>
              </a:rPr>
              <a:t>Traditional anomaly detection approaches in endpoint security primarily rely on rule-based, signature-based, and heuristic methods to identify threats. These conventional techniques have been widely used for detecting known attack patterns, unauthorized access, and suspicious activities in system logs. However, they often fail to detect novel, evolving, and zero-day threats due to their reliance on predefined rules and past attack signatures.</a:t>
            </a:r>
          </a:p>
          <a:p>
            <a:pPr algn="just"/>
            <a:r>
              <a:rPr lang="en-US" sz="1600" dirty="0">
                <a:latin typeface="Times New Roman" panose="02020603050405020304" pitchFamily="18" charset="0"/>
                <a:cs typeface="Times New Roman" panose="02020603050405020304" pitchFamily="18" charset="0"/>
              </a:rPr>
              <a:t>1. </a:t>
            </a:r>
            <a:r>
              <a:rPr lang="en-US" sz="1600" b="1" i="1" dirty="0">
                <a:latin typeface="Times New Roman" panose="02020603050405020304" pitchFamily="18" charset="0"/>
                <a:cs typeface="Times New Roman" panose="02020603050405020304" pitchFamily="18" charset="0"/>
              </a:rPr>
              <a:t>Signature-Based Detection</a:t>
            </a:r>
          </a:p>
          <a:p>
            <a:pPr lvl="1" algn="just"/>
            <a:r>
              <a:rPr lang="en-US" sz="1600" dirty="0">
                <a:latin typeface="Times New Roman" panose="02020603050405020304" pitchFamily="18" charset="0"/>
                <a:cs typeface="Times New Roman" panose="02020603050405020304" pitchFamily="18" charset="0"/>
              </a:rPr>
              <a:t>Signature-based detection methods identify threats by comparing system activity against a database of known attack signatures. This approach is widely used in antivirus software, intrusion detection systems (IDS), and firewalls. </a:t>
            </a:r>
          </a:p>
          <a:p>
            <a:pPr lvl="1" algn="just"/>
            <a:r>
              <a:rPr lang="en-US" sz="1600" dirty="0">
                <a:latin typeface="Times New Roman" panose="02020603050405020304" pitchFamily="18" charset="0"/>
                <a:cs typeface="Times New Roman" panose="02020603050405020304" pitchFamily="18" charset="0"/>
              </a:rPr>
              <a:t>While effective against previously identified threats, signature-based detection is limited in detecting new or unknown attacks, as it requires frequent updates to its signature database.</a:t>
            </a:r>
          </a:p>
          <a:p>
            <a:pPr algn="just"/>
            <a:r>
              <a:rPr lang="en-US" sz="1600" dirty="0">
                <a:latin typeface="Times New Roman" panose="02020603050405020304" pitchFamily="18" charset="0"/>
                <a:cs typeface="Times New Roman" panose="02020603050405020304" pitchFamily="18" charset="0"/>
              </a:rPr>
              <a:t>2. </a:t>
            </a:r>
            <a:r>
              <a:rPr lang="en-US" sz="1600" b="1" i="1" dirty="0">
                <a:latin typeface="Times New Roman" panose="02020603050405020304" pitchFamily="18" charset="0"/>
                <a:cs typeface="Times New Roman" panose="02020603050405020304" pitchFamily="18" charset="0"/>
              </a:rPr>
              <a:t>Rule-Based and Heuristic Approaches</a:t>
            </a:r>
          </a:p>
          <a:p>
            <a:pPr lvl="1" algn="just"/>
            <a:r>
              <a:rPr lang="en-US" sz="1600" dirty="0">
                <a:latin typeface="Times New Roman" panose="02020603050405020304" pitchFamily="18" charset="0"/>
                <a:cs typeface="Times New Roman" panose="02020603050405020304" pitchFamily="18" charset="0"/>
              </a:rPr>
              <a:t>Rule-based anomaly detection systems define a set of pre-configured rules that specify normal and abnormal behaviors. Security administrators manually establish these rules based on historical attack patterns. Heuristic-based approaches improve upon rule-based methods by using if-then conditions and behavioral analysis to flag suspicious activity. </a:t>
            </a:r>
          </a:p>
          <a:p>
            <a:pPr lvl="1" algn="just"/>
            <a:r>
              <a:rPr lang="en-US" sz="1600" dirty="0">
                <a:latin typeface="Times New Roman" panose="02020603050405020304" pitchFamily="18" charset="0"/>
                <a:cs typeface="Times New Roman" panose="02020603050405020304" pitchFamily="18" charset="0"/>
              </a:rPr>
              <a:t>However, these methods generate high false positives and require constant manual tuning to adapt to new threats</a:t>
            </a:r>
          </a:p>
          <a:p>
            <a:pPr marL="0" indent="0">
              <a:buNone/>
            </a:pPr>
            <a:endParaRPr lang="en-US" dirty="0"/>
          </a:p>
        </p:txBody>
      </p:sp>
    </p:spTree>
    <p:extLst>
      <p:ext uri="{BB962C8B-B14F-4D97-AF65-F5344CB8AC3E}">
        <p14:creationId xmlns:p14="http://schemas.microsoft.com/office/powerpoint/2010/main" val="4241848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59688-DAB9-EB69-DADE-A016A8C687B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274AC53D-DDCB-227A-9024-3048250966ED}"/>
              </a:ext>
            </a:extLst>
          </p:cNvPr>
          <p:cNvSpPr>
            <a:spLocks noGrp="1"/>
          </p:cNvSpPr>
          <p:nvPr>
            <p:ph idx="1"/>
          </p:nvPr>
        </p:nvSpPr>
        <p:spPr/>
        <p:txBody>
          <a:bodyPr/>
          <a:lstStyle/>
          <a:p>
            <a:pPr algn="just"/>
            <a:r>
              <a:rPr lang="en-US" sz="1600" dirty="0"/>
              <a:t>3. </a:t>
            </a:r>
            <a:r>
              <a:rPr lang="en-US" sz="1600" b="1" i="1" dirty="0">
                <a:latin typeface="Times New Roman" panose="02020603050405020304" pitchFamily="18" charset="0"/>
                <a:cs typeface="Times New Roman" panose="02020603050405020304" pitchFamily="18" charset="0"/>
              </a:rPr>
              <a:t>Statistical Anomaly Detection</a:t>
            </a:r>
          </a:p>
          <a:p>
            <a:pPr lvl="1" algn="just"/>
            <a:r>
              <a:rPr lang="en-US" sz="1600" dirty="0">
                <a:latin typeface="Times New Roman" panose="02020603050405020304" pitchFamily="18" charset="0"/>
                <a:cs typeface="Times New Roman" panose="02020603050405020304" pitchFamily="18" charset="0"/>
              </a:rPr>
              <a:t>Statistical models analyze historical data to establish a baseline of normal user behavior and identify deviations as potential anomalies. Common statistical techniques include:</a:t>
            </a:r>
          </a:p>
          <a:p>
            <a:pPr lvl="1" algn="just"/>
            <a:r>
              <a:rPr lang="en-US" sz="1600" dirty="0">
                <a:latin typeface="Times New Roman" panose="02020603050405020304" pitchFamily="18" charset="0"/>
                <a:cs typeface="Times New Roman" panose="02020603050405020304" pitchFamily="18" charset="0"/>
              </a:rPr>
              <a:t>Mean and standard deviation analysis – Flags any activity deviating significantly from the mean as an anomaly.</a:t>
            </a:r>
          </a:p>
          <a:p>
            <a:pPr lvl="1" algn="just"/>
            <a:r>
              <a:rPr lang="en-US" sz="1600" dirty="0">
                <a:latin typeface="Times New Roman" panose="02020603050405020304" pitchFamily="18" charset="0"/>
                <a:cs typeface="Times New Roman" panose="02020603050405020304" pitchFamily="18" charset="0"/>
              </a:rPr>
              <a:t>Probability-based anomaly detection – Uses probability distributions to determine whether an event is abnormal.</a:t>
            </a:r>
          </a:p>
          <a:p>
            <a:pPr lvl="1" algn="just"/>
            <a:r>
              <a:rPr lang="en-US" sz="1600" dirty="0">
                <a:latin typeface="Times New Roman" panose="02020603050405020304" pitchFamily="18" charset="0"/>
                <a:cs typeface="Times New Roman" panose="02020603050405020304" pitchFamily="18" charset="0"/>
              </a:rPr>
              <a:t>While statistical models can detect anomalies without relying on attack signatures, they struggle with dynamic environments where user behavior frequently changes, leading to false alarms</a:t>
            </a:r>
            <a:r>
              <a:rPr lang="en-US" sz="1600" dirty="0"/>
              <a:t>.</a:t>
            </a:r>
          </a:p>
          <a:p>
            <a:pPr marL="0" indent="0">
              <a:buNone/>
            </a:pPr>
            <a:endParaRPr lang="en-US" dirty="0"/>
          </a:p>
        </p:txBody>
      </p:sp>
    </p:spTree>
    <p:extLst>
      <p:ext uri="{BB962C8B-B14F-4D97-AF65-F5344CB8AC3E}">
        <p14:creationId xmlns:p14="http://schemas.microsoft.com/office/powerpoint/2010/main" val="3443915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1C74-1826-0F5E-4903-F12253271087}"/>
              </a:ext>
            </a:extLst>
          </p:cNvPr>
          <p:cNvSpPr>
            <a:spLocks noGrp="1"/>
          </p:cNvSpPr>
          <p:nvPr>
            <p:ph type="title"/>
          </p:nvPr>
        </p:nvSpPr>
        <p:spPr>
          <a:xfrm>
            <a:off x="1371599" y="629266"/>
            <a:ext cx="9601201" cy="1002889"/>
          </a:xfrm>
        </p:spPr>
        <p:txBody>
          <a:bodyPr>
            <a:normAutofit fontScale="90000"/>
          </a:bodyPr>
          <a:lstStyle/>
          <a:p>
            <a:r>
              <a:rPr lang="en-US" dirty="0">
                <a:latin typeface="Times New Roman" panose="02020603050405020304" pitchFamily="18" charset="0"/>
                <a:cs typeface="Times New Roman" panose="02020603050405020304" pitchFamily="18" charset="0"/>
              </a:rPr>
              <a:t>Detailed information about proposed Methodology </a:t>
            </a:r>
          </a:p>
        </p:txBody>
      </p:sp>
      <p:sp>
        <p:nvSpPr>
          <p:cNvPr id="3" name="Content Placeholder 2">
            <a:extLst>
              <a:ext uri="{FF2B5EF4-FFF2-40B4-BE49-F238E27FC236}">
                <a16:creationId xmlns:a16="http://schemas.microsoft.com/office/drawing/2014/main" id="{86EF889F-7DAA-7190-5250-5530C573603A}"/>
              </a:ext>
            </a:extLst>
          </p:cNvPr>
          <p:cNvSpPr>
            <a:spLocks noGrp="1"/>
          </p:cNvSpPr>
          <p:nvPr>
            <p:ph idx="1"/>
          </p:nvPr>
        </p:nvSpPr>
        <p:spPr>
          <a:xfrm>
            <a:off x="1371599" y="1632155"/>
            <a:ext cx="10023987" cy="4994787"/>
          </a:xfrm>
        </p:spPr>
        <p:txBody>
          <a:bodyPr/>
          <a:lstStyle/>
          <a:p>
            <a:r>
              <a:rPr lang="en-US" sz="1600" b="1" i="1" dirty="0">
                <a:latin typeface="Times New Roman" panose="02020603050405020304" pitchFamily="18" charset="0"/>
                <a:cs typeface="Times New Roman" panose="02020603050405020304" pitchFamily="18" charset="0"/>
              </a:rPr>
              <a:t>Work flow for proposed methodology</a:t>
            </a:r>
          </a:p>
          <a:p>
            <a:endParaRPr lang="en-US" dirty="0"/>
          </a:p>
        </p:txBody>
      </p:sp>
      <p:pic>
        <p:nvPicPr>
          <p:cNvPr id="4" name="Image 14">
            <a:extLst>
              <a:ext uri="{FF2B5EF4-FFF2-40B4-BE49-F238E27FC236}">
                <a16:creationId xmlns:a16="http://schemas.microsoft.com/office/drawing/2014/main" id="{74DE4323-B492-88B1-F75B-3715912BA85D}"/>
              </a:ext>
            </a:extLst>
          </p:cNvPr>
          <p:cNvPicPr>
            <a:picLocks/>
          </p:cNvPicPr>
          <p:nvPr/>
        </p:nvPicPr>
        <p:blipFill>
          <a:blip r:embed="rId2" cstate="print"/>
          <a:stretch>
            <a:fillRect/>
          </a:stretch>
        </p:blipFill>
        <p:spPr>
          <a:xfrm>
            <a:off x="3126660" y="2180303"/>
            <a:ext cx="4424515" cy="4503174"/>
          </a:xfrm>
          <a:prstGeom prst="rect">
            <a:avLst/>
          </a:prstGeom>
        </p:spPr>
      </p:pic>
    </p:spTree>
    <p:extLst>
      <p:ext uri="{BB962C8B-B14F-4D97-AF65-F5344CB8AC3E}">
        <p14:creationId xmlns:p14="http://schemas.microsoft.com/office/powerpoint/2010/main" val="81067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8B60A-D57C-432C-7964-09F480005835}"/>
              </a:ext>
            </a:extLst>
          </p:cNvPr>
          <p:cNvSpPr>
            <a:spLocks noGrp="1"/>
          </p:cNvSpPr>
          <p:nvPr>
            <p:ph type="title"/>
          </p:nvPr>
        </p:nvSpPr>
        <p:spPr>
          <a:xfrm>
            <a:off x="1371600" y="235975"/>
            <a:ext cx="9601200" cy="1209367"/>
          </a:xfrm>
        </p:spPr>
        <p:txBody>
          <a:bodyPr>
            <a:normAutofit fontScale="90000"/>
          </a:bodyPr>
          <a:lstStyle/>
          <a:p>
            <a:r>
              <a:rPr lang="en-US" dirty="0">
                <a:latin typeface="Times New Roman" panose="02020603050405020304" pitchFamily="18" charset="0"/>
                <a:cs typeface="Times New Roman" panose="02020603050405020304" pitchFamily="18" charset="0"/>
              </a:rPr>
              <a:t>Detailed information about proposed Methodology </a:t>
            </a:r>
          </a:p>
        </p:txBody>
      </p:sp>
      <p:sp>
        <p:nvSpPr>
          <p:cNvPr id="3" name="Content Placeholder 2">
            <a:extLst>
              <a:ext uri="{FF2B5EF4-FFF2-40B4-BE49-F238E27FC236}">
                <a16:creationId xmlns:a16="http://schemas.microsoft.com/office/drawing/2014/main" id="{E296573B-678D-A7E6-796B-C6EB40B35076}"/>
              </a:ext>
            </a:extLst>
          </p:cNvPr>
          <p:cNvSpPr>
            <a:spLocks noGrp="1"/>
          </p:cNvSpPr>
          <p:nvPr>
            <p:ph idx="1"/>
          </p:nvPr>
        </p:nvSpPr>
        <p:spPr>
          <a:xfrm>
            <a:off x="1371599" y="1445343"/>
            <a:ext cx="10328787" cy="5073444"/>
          </a:xfrm>
        </p:spPr>
        <p:txBody>
          <a:bodyPr>
            <a:normAutofit/>
          </a:bodyPr>
          <a:lstStyle/>
          <a:p>
            <a:r>
              <a:rPr lang="en-US" sz="1600" b="1" i="1" dirty="0">
                <a:latin typeface="Times New Roman" panose="02020603050405020304" pitchFamily="18" charset="0"/>
                <a:cs typeface="Times New Roman" panose="02020603050405020304" pitchFamily="18" charset="0"/>
              </a:rPr>
              <a:t>Log data collection </a:t>
            </a:r>
          </a:p>
          <a:p>
            <a:pPr lvl="1"/>
            <a:r>
              <a:rPr lang="en-US" sz="1600" dirty="0">
                <a:latin typeface="Times New Roman" panose="02020603050405020304" pitchFamily="18" charset="0"/>
                <a:cs typeface="Times New Roman" panose="02020603050405020304" pitchFamily="18" charset="0"/>
              </a:rPr>
              <a:t>     The proposed system is evaluated using the BETH dataset, a real-world dataset designed for malicious login detection in cybersecurity.</a:t>
            </a:r>
          </a:p>
          <a:p>
            <a:pPr lvl="1"/>
            <a:r>
              <a:rPr lang="en-US" sz="1600" dirty="0">
                <a:latin typeface="Times New Roman" panose="02020603050405020304" pitchFamily="18" charset="0"/>
                <a:cs typeface="Times New Roman" panose="02020603050405020304" pitchFamily="18" charset="0"/>
              </a:rPr>
              <a:t> It contains a comprehensive collection of authentication logs and security event logs, making it highly suitable for analyzing user behavior and detecting malicious activities.</a:t>
            </a:r>
          </a:p>
          <a:p>
            <a:pPr lvl="1"/>
            <a:endParaRPr lang="en-US"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a:p>
            <a:r>
              <a:rPr lang="en-US" sz="1600" b="1" i="1" dirty="0">
                <a:latin typeface="Times New Roman" panose="02020603050405020304" pitchFamily="18" charset="0"/>
                <a:cs typeface="Times New Roman" panose="02020603050405020304" pitchFamily="18" charset="0"/>
              </a:rPr>
              <a:t>Preprocessing </a:t>
            </a:r>
          </a:p>
          <a:p>
            <a:pPr lvl="1"/>
            <a:r>
              <a:rPr lang="en-US" sz="1600" dirty="0">
                <a:latin typeface="Times New Roman" panose="02020603050405020304" pitchFamily="18" charset="0"/>
                <a:cs typeface="Times New Roman" panose="02020603050405020304" pitchFamily="18" charset="0"/>
              </a:rPr>
              <a:t>In this preprocessing ,we using BETH dataset for Correcting errors, removing redundancies, and handling missing data.</a:t>
            </a:r>
          </a:p>
          <a:p>
            <a:pPr lvl="1"/>
            <a:r>
              <a:rPr lang="en-US" sz="1600" dirty="0">
                <a:latin typeface="Times New Roman" panose="02020603050405020304" pitchFamily="18" charset="0"/>
                <a:cs typeface="Times New Roman" panose="02020603050405020304" pitchFamily="18" charset="0"/>
              </a:rPr>
              <a:t>Data preprocessing involves techniques such as cleaning the data to handle missing values, removing outliers, scaling features, encoding categorical variables, and splitting the data into training and testing sets.</a:t>
            </a:r>
          </a:p>
        </p:txBody>
      </p:sp>
      <p:pic>
        <p:nvPicPr>
          <p:cNvPr id="17" name="Image 1">
            <a:extLst>
              <a:ext uri="{FF2B5EF4-FFF2-40B4-BE49-F238E27FC236}">
                <a16:creationId xmlns:a16="http://schemas.microsoft.com/office/drawing/2014/main" id="{AD8088C1-FA09-1044-744A-5582C869A2DD}"/>
              </a:ext>
            </a:extLst>
          </p:cNvPr>
          <p:cNvPicPr>
            <a:picLocks/>
          </p:cNvPicPr>
          <p:nvPr/>
        </p:nvPicPr>
        <p:blipFill>
          <a:blip r:embed="rId2" cstate="print"/>
          <a:stretch>
            <a:fillRect/>
          </a:stretch>
        </p:blipFill>
        <p:spPr>
          <a:xfrm>
            <a:off x="3110678" y="2976716"/>
            <a:ext cx="6850627" cy="904567"/>
          </a:xfrm>
          <a:prstGeom prst="rect">
            <a:avLst/>
          </a:prstGeom>
        </p:spPr>
      </p:pic>
    </p:spTree>
    <p:extLst>
      <p:ext uri="{BB962C8B-B14F-4D97-AF65-F5344CB8AC3E}">
        <p14:creationId xmlns:p14="http://schemas.microsoft.com/office/powerpoint/2010/main" val="2340183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CE33-5866-400E-A54F-C9C000D2FD03}"/>
              </a:ext>
            </a:extLst>
          </p:cNvPr>
          <p:cNvSpPr>
            <a:spLocks noGrp="1"/>
          </p:cNvSpPr>
          <p:nvPr>
            <p:ph type="title"/>
          </p:nvPr>
        </p:nvSpPr>
        <p:spPr>
          <a:xfrm>
            <a:off x="1371600" y="226142"/>
            <a:ext cx="9601200" cy="1288026"/>
          </a:xfrm>
        </p:spPr>
        <p:txBody>
          <a:bodyPr/>
          <a:lstStyle/>
          <a:p>
            <a:r>
              <a:rPr lang="en-US" dirty="0">
                <a:latin typeface="Times New Roman" panose="02020603050405020304" pitchFamily="18" charset="0"/>
                <a:cs typeface="Times New Roman" panose="02020603050405020304" pitchFamily="18" charset="0"/>
              </a:rPr>
              <a:t>Detailed information about proposed Methodology </a:t>
            </a:r>
          </a:p>
        </p:txBody>
      </p:sp>
      <p:sp>
        <p:nvSpPr>
          <p:cNvPr id="3" name="Content Placeholder 2">
            <a:extLst>
              <a:ext uri="{FF2B5EF4-FFF2-40B4-BE49-F238E27FC236}">
                <a16:creationId xmlns:a16="http://schemas.microsoft.com/office/drawing/2014/main" id="{45165536-9F4A-3621-46B0-D6FA298A2237}"/>
              </a:ext>
            </a:extLst>
          </p:cNvPr>
          <p:cNvSpPr>
            <a:spLocks noGrp="1"/>
          </p:cNvSpPr>
          <p:nvPr>
            <p:ph idx="1"/>
          </p:nvPr>
        </p:nvSpPr>
        <p:spPr>
          <a:xfrm>
            <a:off x="1371599" y="1514168"/>
            <a:ext cx="10230465" cy="4975122"/>
          </a:xfrm>
        </p:spPr>
        <p:txBody>
          <a:bodyPr/>
          <a:lstStyle/>
          <a:p>
            <a:pPr marL="0">
              <a:spcBef>
                <a:spcPts val="305"/>
              </a:spcBef>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Data analysis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941832" marR="34290" lvl="1" indent="-285750" algn="just">
              <a:lnSpc>
                <a:spcPct val="95000"/>
              </a:lnSpc>
              <a:buFont typeface="Arial" panose="020B0604020202020204" pitchFamily="34" charset="0"/>
              <a:buChar cha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It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important to investigate and understand the data better before building a model with it. </a:t>
            </a:r>
          </a:p>
          <a:p>
            <a:pPr marL="941832" marR="34290" lvl="1" indent="-285750" algn="just">
              <a:lnSpc>
                <a:spcPct val="95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Thorough analysis of the data ,the visualization is valuable for understanding data distribution and detecting anomalies that could affect data analysis or modelling .</a:t>
            </a:r>
          </a:p>
          <a:p>
            <a:pPr marL="941832" marR="34290" lvl="1" indent="-285750" algn="just">
              <a:lnSpc>
                <a:spcPct val="95000"/>
              </a:lnSpc>
              <a:buFont typeface="Arial" panose="020B0604020202020204" pitchFamily="34" charset="0"/>
              <a:buChar char="•"/>
            </a:pPr>
            <a:endParaRPr lang="en-US" sz="1800" dirty="0">
              <a:effectLst/>
              <a:latin typeface="Franklin Gothic Book" panose="020B0503020102020204" pitchFamily="34" charset="0"/>
              <a:ea typeface="Times New Roman" panose="02020603050405020304" pitchFamily="18" charset="0"/>
            </a:endParaRPr>
          </a:p>
          <a:p>
            <a:pPr marL="941832" marR="34290" lvl="1" indent="-285750" algn="just">
              <a:lnSpc>
                <a:spcPct val="95000"/>
              </a:lnSpc>
              <a:buFont typeface="Arial" panose="020B0604020202020204" pitchFamily="34" charset="0"/>
              <a:buChar char="•"/>
            </a:pP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4" name="Image 3">
            <a:extLst>
              <a:ext uri="{FF2B5EF4-FFF2-40B4-BE49-F238E27FC236}">
                <a16:creationId xmlns:a16="http://schemas.microsoft.com/office/drawing/2014/main" id="{9A2943A8-B9F6-81D2-922A-3A352DAB7D4B}"/>
              </a:ext>
            </a:extLst>
          </p:cNvPr>
          <p:cNvPicPr>
            <a:picLocks/>
          </p:cNvPicPr>
          <p:nvPr/>
        </p:nvPicPr>
        <p:blipFill>
          <a:blip r:embed="rId2" cstate="print"/>
          <a:stretch>
            <a:fillRect/>
          </a:stretch>
        </p:blipFill>
        <p:spPr>
          <a:xfrm>
            <a:off x="1597741" y="3038384"/>
            <a:ext cx="4085306" cy="2305448"/>
          </a:xfrm>
          <a:prstGeom prst="rect">
            <a:avLst/>
          </a:prstGeom>
        </p:spPr>
      </p:pic>
      <p:pic>
        <p:nvPicPr>
          <p:cNvPr id="5" name="Image 5">
            <a:extLst>
              <a:ext uri="{FF2B5EF4-FFF2-40B4-BE49-F238E27FC236}">
                <a16:creationId xmlns:a16="http://schemas.microsoft.com/office/drawing/2014/main" id="{9A1B94BF-FF53-FC9E-D82E-CBC71FF62E2A}"/>
              </a:ext>
            </a:extLst>
          </p:cNvPr>
          <p:cNvPicPr>
            <a:picLocks/>
          </p:cNvPicPr>
          <p:nvPr/>
        </p:nvPicPr>
        <p:blipFill>
          <a:blip r:embed="rId3" cstate="print"/>
          <a:stretch>
            <a:fillRect/>
          </a:stretch>
        </p:blipFill>
        <p:spPr>
          <a:xfrm>
            <a:off x="5909188" y="3038384"/>
            <a:ext cx="5063612" cy="2305448"/>
          </a:xfrm>
          <a:prstGeom prst="rect">
            <a:avLst/>
          </a:prstGeom>
        </p:spPr>
      </p:pic>
    </p:spTree>
    <p:extLst>
      <p:ext uri="{BB962C8B-B14F-4D97-AF65-F5344CB8AC3E}">
        <p14:creationId xmlns:p14="http://schemas.microsoft.com/office/powerpoint/2010/main" val="2622295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68FB-78CD-410C-85EF-5C9EF477AD5F}"/>
              </a:ext>
            </a:extLst>
          </p:cNvPr>
          <p:cNvSpPr>
            <a:spLocks noGrp="1"/>
          </p:cNvSpPr>
          <p:nvPr>
            <p:ph type="title"/>
          </p:nvPr>
        </p:nvSpPr>
        <p:spPr>
          <a:xfrm>
            <a:off x="1371600" y="117987"/>
            <a:ext cx="9601200" cy="1406013"/>
          </a:xfrm>
        </p:spPr>
        <p:txBody>
          <a:bodyPr/>
          <a:lstStyle/>
          <a:p>
            <a:r>
              <a:rPr lang="en-US" dirty="0">
                <a:latin typeface="Times New Roman" panose="02020603050405020304" pitchFamily="18" charset="0"/>
                <a:cs typeface="Times New Roman" panose="02020603050405020304" pitchFamily="18" charset="0"/>
              </a:rPr>
              <a:t>Detailed information about proposed Methodology </a:t>
            </a:r>
          </a:p>
        </p:txBody>
      </p:sp>
      <p:sp>
        <p:nvSpPr>
          <p:cNvPr id="3" name="Content Placeholder 2">
            <a:extLst>
              <a:ext uri="{FF2B5EF4-FFF2-40B4-BE49-F238E27FC236}">
                <a16:creationId xmlns:a16="http://schemas.microsoft.com/office/drawing/2014/main" id="{A31E84B4-B956-9801-3719-1037AE121D6E}"/>
              </a:ext>
            </a:extLst>
          </p:cNvPr>
          <p:cNvSpPr>
            <a:spLocks noGrp="1"/>
          </p:cNvSpPr>
          <p:nvPr>
            <p:ph idx="1"/>
          </p:nvPr>
        </p:nvSpPr>
        <p:spPr>
          <a:xfrm>
            <a:off x="1371600" y="1524000"/>
            <a:ext cx="9601200" cy="4968240"/>
          </a:xfrm>
        </p:spPr>
        <p:txBody>
          <a:bodyPr>
            <a:normAutofit fontScale="62500" lnSpcReduction="20000"/>
          </a:bodyPr>
          <a:lstStyle/>
          <a:p>
            <a:pPr marL="0" indent="0" algn="just">
              <a:buNone/>
            </a:pPr>
            <a:r>
              <a:rPr lang="en-US" sz="2300" b="1" i="1" dirty="0"/>
              <a:t>  </a:t>
            </a:r>
            <a:r>
              <a:rPr lang="en-US" sz="2200" b="1" i="1" spc="0" dirty="0">
                <a:effectLst/>
                <a:latin typeface="Times New Roman" panose="02020603050405020304" pitchFamily="18" charset="0"/>
                <a:ea typeface="Times New Roman" panose="02020603050405020304" pitchFamily="18" charset="0"/>
                <a:cs typeface="Times New Roman" panose="02020603050405020304" pitchFamily="18" charset="0"/>
              </a:rPr>
              <a:t>Machine</a:t>
            </a:r>
            <a:r>
              <a:rPr lang="en-US" sz="2200" b="1" i="1"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b="1" i="1" spc="0" dirty="0">
                <a:effectLst/>
                <a:latin typeface="Times New Roman" panose="02020603050405020304" pitchFamily="18" charset="0"/>
                <a:ea typeface="Times New Roman" panose="02020603050405020304" pitchFamily="18" charset="0"/>
                <a:cs typeface="Times New Roman" panose="02020603050405020304" pitchFamily="18" charset="0"/>
              </a:rPr>
              <a:t>Learning</a:t>
            </a:r>
            <a:r>
              <a:rPr lang="en-US" sz="2200" b="1" i="1"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b="1" i="1" spc="-10" dirty="0">
                <a:effectLst/>
                <a:latin typeface="Times New Roman" panose="02020603050405020304" pitchFamily="18" charset="0"/>
                <a:ea typeface="Times New Roman" panose="02020603050405020304" pitchFamily="18" charset="0"/>
                <a:cs typeface="Times New Roman" panose="02020603050405020304" pitchFamily="18" charset="0"/>
              </a:rPr>
              <a:t>techniques</a:t>
            </a:r>
            <a:endParaRPr lang="en-US" sz="2200" b="1" i="1" dirty="0">
              <a:latin typeface="Times New Roman" panose="02020603050405020304" pitchFamily="18" charset="0"/>
              <a:cs typeface="Times New Roman" panose="02020603050405020304" pitchFamily="18" charset="0"/>
            </a:endParaRPr>
          </a:p>
          <a:p>
            <a:pPr algn="just"/>
            <a:r>
              <a:rPr lang="en-US" sz="2200" b="1" i="1" dirty="0">
                <a:latin typeface="Times New Roman" panose="02020603050405020304" pitchFamily="18" charset="0"/>
                <a:cs typeface="Times New Roman" panose="02020603050405020304" pitchFamily="18" charset="0"/>
              </a:rPr>
              <a:t>One class </a:t>
            </a:r>
            <a:r>
              <a:rPr lang="en-US" sz="2200" b="1" i="1" dirty="0" err="1">
                <a:latin typeface="Times New Roman" panose="02020603050405020304" pitchFamily="18" charset="0"/>
                <a:cs typeface="Times New Roman" panose="02020603050405020304" pitchFamily="18" charset="0"/>
              </a:rPr>
              <a:t>svm</a:t>
            </a:r>
            <a:endParaRPr lang="en-US" sz="2200" b="1" i="1" dirty="0">
              <a:latin typeface="Times New Roman" panose="02020603050405020304" pitchFamily="18" charset="0"/>
              <a:cs typeface="Times New Roman" panose="02020603050405020304" pitchFamily="18" charset="0"/>
            </a:endParaRPr>
          </a:p>
          <a:p>
            <a:pPr lvl="1" algn="just"/>
            <a:r>
              <a:rPr lang="en-US" sz="2200" i="1" dirty="0">
                <a:latin typeface="Times New Roman" panose="02020603050405020304" pitchFamily="18" charset="0"/>
                <a:cs typeface="Times New Roman" panose="02020603050405020304" pitchFamily="18" charset="0"/>
              </a:rPr>
              <a:t>Boundary-Based Approach – Constructs a decision boundary (hypersphere) around normal data to separate anomalies Kernel Trick for Flexibility </a:t>
            </a:r>
          </a:p>
          <a:p>
            <a:pPr lvl="1" algn="just"/>
            <a:r>
              <a:rPr lang="en-US" sz="2200" i="1" dirty="0">
                <a:latin typeface="Times New Roman" panose="02020603050405020304" pitchFamily="18" charset="0"/>
                <a:cs typeface="Times New Roman" panose="02020603050405020304" pitchFamily="18" charset="0"/>
              </a:rPr>
              <a:t> Uses kernel functions (e.g., RBF) to map data into a higher-dimensional space for better separation Hyperparameter Sensitivity </a:t>
            </a:r>
          </a:p>
          <a:p>
            <a:pPr lvl="1" algn="just"/>
            <a:r>
              <a:rPr lang="en-US" sz="2200" i="1" dirty="0">
                <a:latin typeface="Times New Roman" panose="02020603050405020304" pitchFamily="18" charset="0"/>
                <a:cs typeface="Times New Roman" panose="02020603050405020304" pitchFamily="18" charset="0"/>
              </a:rPr>
              <a:t>Performance depends on kernel choice and parameters, requiring careful tuning for accuracy.</a:t>
            </a:r>
          </a:p>
          <a:p>
            <a:pPr algn="just"/>
            <a:r>
              <a:rPr lang="en-US" sz="2200" b="1" i="1" dirty="0">
                <a:latin typeface="Times New Roman" panose="02020603050405020304" pitchFamily="18" charset="0"/>
                <a:cs typeface="Times New Roman" panose="02020603050405020304" pitchFamily="18" charset="0"/>
              </a:rPr>
              <a:t>Isolation Forest</a:t>
            </a:r>
          </a:p>
          <a:p>
            <a:pPr lvl="1" algn="just"/>
            <a:r>
              <a:rPr lang="en-US" sz="2200" i="1" dirty="0">
                <a:latin typeface="Times New Roman" panose="02020603050405020304" pitchFamily="18" charset="0"/>
                <a:cs typeface="Times New Roman" panose="02020603050405020304" pitchFamily="18" charset="0"/>
              </a:rPr>
              <a:t>Tree-Based Partitioning – Isolates anomalies through recursive random splits, requiring fewer splits for outliers than normal points.</a:t>
            </a:r>
          </a:p>
          <a:p>
            <a:pPr lvl="1" algn="just"/>
            <a:r>
              <a:rPr lang="en-US" sz="2200" i="1" dirty="0">
                <a:latin typeface="Times New Roman" panose="02020603050405020304" pitchFamily="18" charset="0"/>
                <a:cs typeface="Times New Roman" panose="02020603050405020304" pitchFamily="18" charset="0"/>
              </a:rPr>
              <a:t>Efficiency and Scalability – Works well on large, high-dimensional datasets with low computational cost</a:t>
            </a:r>
          </a:p>
          <a:p>
            <a:pPr lvl="1" algn="just"/>
            <a:r>
              <a:rPr lang="en-US" sz="2200" i="1" dirty="0">
                <a:latin typeface="Times New Roman" panose="02020603050405020304" pitchFamily="18" charset="0"/>
                <a:cs typeface="Times New Roman" panose="02020603050405020304" pitchFamily="18" charset="0"/>
              </a:rPr>
              <a:t>Hyperparameter Importance – Performance depends on the number of trees and sample size, requiring optimization for best results.</a:t>
            </a:r>
          </a:p>
          <a:p>
            <a:pPr algn="just"/>
            <a:r>
              <a:rPr lang="en-US" sz="2200" b="1" i="1" dirty="0">
                <a:latin typeface="Times New Roman" panose="02020603050405020304" pitchFamily="18" charset="0"/>
                <a:cs typeface="Times New Roman" panose="02020603050405020304" pitchFamily="18" charset="0"/>
              </a:rPr>
              <a:t>Local Outlier Factor (LOF)</a:t>
            </a:r>
          </a:p>
          <a:p>
            <a:pPr lvl="1" algn="just"/>
            <a:r>
              <a:rPr lang="en-US" sz="2200" i="1" dirty="0">
                <a:latin typeface="Times New Roman" panose="02020603050405020304" pitchFamily="18" charset="0"/>
                <a:cs typeface="Times New Roman" panose="02020603050405020304" pitchFamily="18" charset="0"/>
              </a:rPr>
              <a:t>Density-Based Anomaly Detection – Detects anomalies by comparing the local density of a point to its k-nearest neighbors.</a:t>
            </a:r>
          </a:p>
          <a:p>
            <a:pPr lvl="1" algn="just"/>
            <a:r>
              <a:rPr lang="en-US" sz="2200" i="1" dirty="0">
                <a:latin typeface="Times New Roman" panose="02020603050405020304" pitchFamily="18" charset="0"/>
                <a:cs typeface="Times New Roman" panose="02020603050405020304" pitchFamily="18" charset="0"/>
              </a:rPr>
              <a:t>Local Sensitivity – Effective in identifying anomalies in varying density regions, unlike global methods.</a:t>
            </a:r>
          </a:p>
          <a:p>
            <a:pPr lvl="1" algn="just"/>
            <a:r>
              <a:rPr lang="en-US" sz="2200" i="1" dirty="0">
                <a:latin typeface="Times New Roman" panose="02020603050405020304" pitchFamily="18" charset="0"/>
                <a:cs typeface="Times New Roman" panose="02020603050405020304" pitchFamily="18" charset="0"/>
              </a:rPr>
              <a:t>Computational Complexity – Can be expensive for large datasets and is sensitive to the choice of k (number of neighbors).</a:t>
            </a:r>
          </a:p>
        </p:txBody>
      </p:sp>
    </p:spTree>
    <p:extLst>
      <p:ext uri="{BB962C8B-B14F-4D97-AF65-F5344CB8AC3E}">
        <p14:creationId xmlns:p14="http://schemas.microsoft.com/office/powerpoint/2010/main" val="2221485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66475-85D3-941A-6B5B-DC7A03B7E2B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 </a:t>
            </a:r>
            <a:br>
              <a:rPr lang="en-US"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ONE CLASS SVM</a:t>
            </a:r>
          </a:p>
        </p:txBody>
      </p:sp>
      <p:sp>
        <p:nvSpPr>
          <p:cNvPr id="3" name="Content Placeholder 2">
            <a:extLst>
              <a:ext uri="{FF2B5EF4-FFF2-40B4-BE49-F238E27FC236}">
                <a16:creationId xmlns:a16="http://schemas.microsoft.com/office/drawing/2014/main" id="{46752B03-100F-7274-4CE1-59113D8CBF8B}"/>
              </a:ext>
            </a:extLst>
          </p:cNvPr>
          <p:cNvSpPr>
            <a:spLocks noGrp="1"/>
          </p:cNvSpPr>
          <p:nvPr>
            <p:ph idx="1"/>
          </p:nvPr>
        </p:nvSpPr>
        <p:spPr>
          <a:xfrm>
            <a:off x="1371600" y="1563329"/>
            <a:ext cx="9601200" cy="4304071"/>
          </a:xfrm>
        </p:spPr>
        <p:txBody>
          <a:bodyPr/>
          <a:lstStyle/>
          <a:p>
            <a:r>
              <a:rPr lang="en-US" b="1" i="1" dirty="0"/>
              <a:t>One class SVM </a:t>
            </a:r>
          </a:p>
          <a:p>
            <a:endParaRPr lang="en-US" b="1" i="1" dirty="0"/>
          </a:p>
        </p:txBody>
      </p:sp>
      <p:pic>
        <p:nvPicPr>
          <p:cNvPr id="4" name="Image 6">
            <a:extLst>
              <a:ext uri="{FF2B5EF4-FFF2-40B4-BE49-F238E27FC236}">
                <a16:creationId xmlns:a16="http://schemas.microsoft.com/office/drawing/2014/main" id="{68B4AC1C-E491-0E9A-17AE-26154DB6FA4A}"/>
              </a:ext>
            </a:extLst>
          </p:cNvPr>
          <p:cNvPicPr>
            <a:picLocks/>
          </p:cNvPicPr>
          <p:nvPr/>
        </p:nvPicPr>
        <p:blipFill>
          <a:blip r:embed="rId2" cstate="print"/>
          <a:stretch>
            <a:fillRect/>
          </a:stretch>
        </p:blipFill>
        <p:spPr>
          <a:xfrm>
            <a:off x="8054348" y="874405"/>
            <a:ext cx="3233083" cy="2931241"/>
          </a:xfrm>
          <a:prstGeom prst="rect">
            <a:avLst/>
          </a:prstGeom>
        </p:spPr>
      </p:pic>
      <p:pic>
        <p:nvPicPr>
          <p:cNvPr id="5" name="Image 7">
            <a:extLst>
              <a:ext uri="{FF2B5EF4-FFF2-40B4-BE49-F238E27FC236}">
                <a16:creationId xmlns:a16="http://schemas.microsoft.com/office/drawing/2014/main" id="{AB8BCBEE-5FA1-D91A-CB05-F69C32F010DD}"/>
              </a:ext>
            </a:extLst>
          </p:cNvPr>
          <p:cNvPicPr>
            <a:picLocks/>
          </p:cNvPicPr>
          <p:nvPr/>
        </p:nvPicPr>
        <p:blipFill>
          <a:blip r:embed="rId3" cstate="print"/>
          <a:stretch>
            <a:fillRect/>
          </a:stretch>
        </p:blipFill>
        <p:spPr>
          <a:xfrm>
            <a:off x="8054348" y="3936078"/>
            <a:ext cx="3233083" cy="2808851"/>
          </a:xfrm>
          <a:prstGeom prst="rect">
            <a:avLst/>
          </a:prstGeom>
        </p:spPr>
      </p:pic>
      <p:pic>
        <p:nvPicPr>
          <p:cNvPr id="6" name="Image 8">
            <a:extLst>
              <a:ext uri="{FF2B5EF4-FFF2-40B4-BE49-F238E27FC236}">
                <a16:creationId xmlns:a16="http://schemas.microsoft.com/office/drawing/2014/main" id="{112DEB1B-6F81-7F58-FCE9-BFA28132CB25}"/>
              </a:ext>
            </a:extLst>
          </p:cNvPr>
          <p:cNvPicPr>
            <a:picLocks/>
          </p:cNvPicPr>
          <p:nvPr/>
        </p:nvPicPr>
        <p:blipFill>
          <a:blip r:embed="rId4" cstate="print"/>
          <a:stretch>
            <a:fillRect/>
          </a:stretch>
        </p:blipFill>
        <p:spPr>
          <a:xfrm>
            <a:off x="1371600" y="4860823"/>
            <a:ext cx="5250426" cy="1445342"/>
          </a:xfrm>
          <a:prstGeom prst="rect">
            <a:avLst/>
          </a:prstGeom>
        </p:spPr>
      </p:pic>
      <p:pic>
        <p:nvPicPr>
          <p:cNvPr id="8" name="Picture 7">
            <a:extLst>
              <a:ext uri="{FF2B5EF4-FFF2-40B4-BE49-F238E27FC236}">
                <a16:creationId xmlns:a16="http://schemas.microsoft.com/office/drawing/2014/main" id="{A2819E7D-7B72-F300-B474-09B18D6092C1}"/>
              </a:ext>
            </a:extLst>
          </p:cNvPr>
          <p:cNvPicPr>
            <a:picLocks noChangeAspect="1"/>
          </p:cNvPicPr>
          <p:nvPr/>
        </p:nvPicPr>
        <p:blipFill>
          <a:blip r:embed="rId5"/>
          <a:stretch>
            <a:fillRect/>
          </a:stretch>
        </p:blipFill>
        <p:spPr>
          <a:xfrm>
            <a:off x="1371600" y="1470801"/>
            <a:ext cx="6294516" cy="3130695"/>
          </a:xfrm>
          <a:prstGeom prst="rect">
            <a:avLst/>
          </a:prstGeom>
        </p:spPr>
      </p:pic>
    </p:spTree>
    <p:extLst>
      <p:ext uri="{BB962C8B-B14F-4D97-AF65-F5344CB8AC3E}">
        <p14:creationId xmlns:p14="http://schemas.microsoft.com/office/powerpoint/2010/main" val="2713785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3B12-65D0-FDD8-055F-BB70C107DC9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 </a:t>
            </a:r>
            <a:br>
              <a:rPr lang="en-US"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ISOLATION FOREST</a:t>
            </a:r>
          </a:p>
        </p:txBody>
      </p:sp>
      <p:pic>
        <p:nvPicPr>
          <p:cNvPr id="5" name="Content Placeholder 4">
            <a:extLst>
              <a:ext uri="{FF2B5EF4-FFF2-40B4-BE49-F238E27FC236}">
                <a16:creationId xmlns:a16="http://schemas.microsoft.com/office/drawing/2014/main" id="{396B47FA-DD39-E1D2-02CC-BC5A69DAFB1C}"/>
              </a:ext>
            </a:extLst>
          </p:cNvPr>
          <p:cNvPicPr>
            <a:picLocks noGrp="1" noChangeAspect="1"/>
          </p:cNvPicPr>
          <p:nvPr>
            <p:ph idx="1"/>
          </p:nvPr>
        </p:nvPicPr>
        <p:blipFill>
          <a:blip r:embed="rId2"/>
          <a:stretch>
            <a:fillRect/>
          </a:stretch>
        </p:blipFill>
        <p:spPr>
          <a:xfrm>
            <a:off x="1371600" y="1755057"/>
            <a:ext cx="5009535" cy="2950908"/>
          </a:xfrm>
        </p:spPr>
      </p:pic>
      <p:pic>
        <p:nvPicPr>
          <p:cNvPr id="6" name="Image 9">
            <a:extLst>
              <a:ext uri="{FF2B5EF4-FFF2-40B4-BE49-F238E27FC236}">
                <a16:creationId xmlns:a16="http://schemas.microsoft.com/office/drawing/2014/main" id="{E04B04AC-AB27-F1E6-61EA-C98F7284DFB2}"/>
              </a:ext>
            </a:extLst>
          </p:cNvPr>
          <p:cNvPicPr>
            <a:picLocks/>
          </p:cNvPicPr>
          <p:nvPr/>
        </p:nvPicPr>
        <p:blipFill>
          <a:blip r:embed="rId3" cstate="print"/>
          <a:stretch>
            <a:fillRect/>
          </a:stretch>
        </p:blipFill>
        <p:spPr>
          <a:xfrm>
            <a:off x="7098890" y="849875"/>
            <a:ext cx="4414684" cy="2472813"/>
          </a:xfrm>
          <a:prstGeom prst="rect">
            <a:avLst/>
          </a:prstGeom>
        </p:spPr>
      </p:pic>
      <p:pic>
        <p:nvPicPr>
          <p:cNvPr id="7" name="Image 10">
            <a:extLst>
              <a:ext uri="{FF2B5EF4-FFF2-40B4-BE49-F238E27FC236}">
                <a16:creationId xmlns:a16="http://schemas.microsoft.com/office/drawing/2014/main" id="{240242EC-5919-D071-C35F-E65ABB9A7331}"/>
              </a:ext>
            </a:extLst>
          </p:cNvPr>
          <p:cNvPicPr>
            <a:picLocks/>
          </p:cNvPicPr>
          <p:nvPr/>
        </p:nvPicPr>
        <p:blipFill>
          <a:blip r:embed="rId4" cstate="print"/>
          <a:stretch>
            <a:fillRect/>
          </a:stretch>
        </p:blipFill>
        <p:spPr>
          <a:xfrm>
            <a:off x="7098890" y="3734813"/>
            <a:ext cx="4414684" cy="2567664"/>
          </a:xfrm>
          <a:prstGeom prst="rect">
            <a:avLst/>
          </a:prstGeom>
        </p:spPr>
      </p:pic>
      <p:pic>
        <p:nvPicPr>
          <p:cNvPr id="8" name="Image 11">
            <a:extLst>
              <a:ext uri="{FF2B5EF4-FFF2-40B4-BE49-F238E27FC236}">
                <a16:creationId xmlns:a16="http://schemas.microsoft.com/office/drawing/2014/main" id="{538B62DE-30AF-FBC4-AE05-794C70024D28}"/>
              </a:ext>
            </a:extLst>
          </p:cNvPr>
          <p:cNvPicPr>
            <a:picLocks/>
          </p:cNvPicPr>
          <p:nvPr/>
        </p:nvPicPr>
        <p:blipFill>
          <a:blip r:embed="rId5" cstate="print"/>
          <a:stretch>
            <a:fillRect/>
          </a:stretch>
        </p:blipFill>
        <p:spPr>
          <a:xfrm>
            <a:off x="1371600" y="4896466"/>
            <a:ext cx="5009535" cy="1406011"/>
          </a:xfrm>
          <a:prstGeom prst="rect">
            <a:avLst/>
          </a:prstGeom>
        </p:spPr>
      </p:pic>
    </p:spTree>
    <p:extLst>
      <p:ext uri="{BB962C8B-B14F-4D97-AF65-F5344CB8AC3E}">
        <p14:creationId xmlns:p14="http://schemas.microsoft.com/office/powerpoint/2010/main" val="2412803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972D4-8437-55D1-2221-3E40B399D12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a:t>
            </a:r>
            <a:br>
              <a:rPr lang="en-US"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LOCAL OUTLIER FACTOR (LOF) </a:t>
            </a:r>
          </a:p>
        </p:txBody>
      </p:sp>
      <p:pic>
        <p:nvPicPr>
          <p:cNvPr id="5" name="Content Placeholder 4">
            <a:extLst>
              <a:ext uri="{FF2B5EF4-FFF2-40B4-BE49-F238E27FC236}">
                <a16:creationId xmlns:a16="http://schemas.microsoft.com/office/drawing/2014/main" id="{5D671C47-BB8F-5B89-F7BB-A9502D7A8ED6}"/>
              </a:ext>
            </a:extLst>
          </p:cNvPr>
          <p:cNvPicPr>
            <a:picLocks noGrp="1" noChangeAspect="1"/>
          </p:cNvPicPr>
          <p:nvPr>
            <p:ph idx="1"/>
          </p:nvPr>
        </p:nvPicPr>
        <p:blipFill>
          <a:blip r:embed="rId2"/>
          <a:stretch>
            <a:fillRect/>
          </a:stretch>
        </p:blipFill>
        <p:spPr>
          <a:xfrm>
            <a:off x="646111" y="1630311"/>
            <a:ext cx="5756787" cy="3708605"/>
          </a:xfrm>
        </p:spPr>
      </p:pic>
      <p:pic>
        <p:nvPicPr>
          <p:cNvPr id="6" name="Image 12">
            <a:extLst>
              <a:ext uri="{FF2B5EF4-FFF2-40B4-BE49-F238E27FC236}">
                <a16:creationId xmlns:a16="http://schemas.microsoft.com/office/drawing/2014/main" id="{B25C7678-19FE-5453-953B-6C5D7644F621}"/>
              </a:ext>
            </a:extLst>
          </p:cNvPr>
          <p:cNvPicPr>
            <a:picLocks/>
          </p:cNvPicPr>
          <p:nvPr/>
        </p:nvPicPr>
        <p:blipFill>
          <a:blip r:embed="rId3" cstate="print"/>
          <a:stretch>
            <a:fillRect/>
          </a:stretch>
        </p:blipFill>
        <p:spPr>
          <a:xfrm>
            <a:off x="7354531" y="1428750"/>
            <a:ext cx="4041058" cy="2620174"/>
          </a:xfrm>
          <a:prstGeom prst="rect">
            <a:avLst/>
          </a:prstGeom>
        </p:spPr>
      </p:pic>
      <p:pic>
        <p:nvPicPr>
          <p:cNvPr id="7" name="Image 13">
            <a:extLst>
              <a:ext uri="{FF2B5EF4-FFF2-40B4-BE49-F238E27FC236}">
                <a16:creationId xmlns:a16="http://schemas.microsoft.com/office/drawing/2014/main" id="{5BFD22AB-AC6E-A287-68BC-0FAC3ABD2B89}"/>
              </a:ext>
            </a:extLst>
          </p:cNvPr>
          <p:cNvPicPr>
            <a:picLocks/>
          </p:cNvPicPr>
          <p:nvPr/>
        </p:nvPicPr>
        <p:blipFill>
          <a:blip r:embed="rId4" cstate="print"/>
          <a:stretch>
            <a:fillRect/>
          </a:stretch>
        </p:blipFill>
        <p:spPr>
          <a:xfrm>
            <a:off x="7354531" y="4636441"/>
            <a:ext cx="4041058" cy="1361236"/>
          </a:xfrm>
          <a:prstGeom prst="rect">
            <a:avLst/>
          </a:prstGeom>
        </p:spPr>
      </p:pic>
    </p:spTree>
    <p:extLst>
      <p:ext uri="{BB962C8B-B14F-4D97-AF65-F5344CB8AC3E}">
        <p14:creationId xmlns:p14="http://schemas.microsoft.com/office/powerpoint/2010/main" val="2816985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A30F2-860F-7643-E2F0-D9D28427A81A}"/>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Implementaion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16B7ED-0243-607B-C37D-1B4181B335E4}"/>
              </a:ext>
            </a:extLst>
          </p:cNvPr>
          <p:cNvSpPr>
            <a:spLocks noGrp="1"/>
          </p:cNvSpPr>
          <p:nvPr>
            <p:ph idx="1"/>
          </p:nvPr>
        </p:nvSpPr>
        <p:spPr>
          <a:xfrm>
            <a:off x="1474839" y="1455173"/>
            <a:ext cx="9163664" cy="4530213"/>
          </a:xfrm>
        </p:spPr>
        <p:txBody>
          <a:bodyPr/>
          <a:lstStyle/>
          <a:p>
            <a:r>
              <a:rPr lang="en-US" b="1" i="1" dirty="0">
                <a:latin typeface="Times New Roman" panose="02020603050405020304" pitchFamily="18" charset="0"/>
                <a:cs typeface="Times New Roman" panose="02020603050405020304" pitchFamily="18" charset="0"/>
              </a:rPr>
              <a:t>accuracy of the all methods in graph format</a:t>
            </a:r>
          </a:p>
          <a:p>
            <a:endParaRPr lang="en-US" dirty="0"/>
          </a:p>
        </p:txBody>
      </p:sp>
      <p:pic>
        <p:nvPicPr>
          <p:cNvPr id="1026" name="Picture 2">
            <a:extLst>
              <a:ext uri="{FF2B5EF4-FFF2-40B4-BE49-F238E27FC236}">
                <a16:creationId xmlns:a16="http://schemas.microsoft.com/office/drawing/2014/main" id="{3D41B3FC-050F-3641-393F-511B9EB72F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8968" y="2074606"/>
            <a:ext cx="6619445" cy="3910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031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DEF1-DF92-035D-BEE0-FC6DFD4F64CF}"/>
              </a:ext>
            </a:extLst>
          </p:cNvPr>
          <p:cNvSpPr>
            <a:spLocks noGrp="1"/>
          </p:cNvSpPr>
          <p:nvPr>
            <p:ph type="title"/>
          </p:nvPr>
        </p:nvSpPr>
        <p:spPr>
          <a:xfrm>
            <a:off x="646111" y="452718"/>
            <a:ext cx="9404723" cy="579669"/>
          </a:xfrm>
        </p:spPr>
        <p:txBody>
          <a:bodyPr/>
          <a:lstStyle/>
          <a:p>
            <a:r>
              <a:rPr lang="en-US" sz="2800" dirty="0">
                <a:latin typeface="Times New Roman" panose="02020603050405020304" pitchFamily="18" charset="0"/>
                <a:cs typeface="Times New Roman" panose="02020603050405020304" pitchFamily="18" charset="0"/>
              </a:rPr>
              <a:t>COMPARSION TABLE </a:t>
            </a:r>
          </a:p>
        </p:txBody>
      </p:sp>
      <p:graphicFrame>
        <p:nvGraphicFramePr>
          <p:cNvPr id="4" name="Content Placeholder 3">
            <a:extLst>
              <a:ext uri="{FF2B5EF4-FFF2-40B4-BE49-F238E27FC236}">
                <a16:creationId xmlns:a16="http://schemas.microsoft.com/office/drawing/2014/main" id="{4A27DBE0-0FEF-BAE4-A337-44DCF776AD18}"/>
              </a:ext>
            </a:extLst>
          </p:cNvPr>
          <p:cNvGraphicFramePr>
            <a:graphicFrameLocks noGrp="1"/>
          </p:cNvGraphicFramePr>
          <p:nvPr>
            <p:ph idx="1"/>
            <p:extLst>
              <p:ext uri="{D42A27DB-BD31-4B8C-83A1-F6EECF244321}">
                <p14:modId xmlns:p14="http://schemas.microsoft.com/office/powerpoint/2010/main" val="2226140397"/>
              </p:ext>
            </p:extLst>
          </p:nvPr>
        </p:nvGraphicFramePr>
        <p:xfrm>
          <a:off x="1184618" y="1259903"/>
          <a:ext cx="10092980" cy="5440384"/>
        </p:xfrm>
        <a:graphic>
          <a:graphicData uri="http://schemas.openxmlformats.org/drawingml/2006/table">
            <a:tbl>
              <a:tblPr firstRow="1" firstCol="1" bandRow="1">
                <a:tableStyleId>{5C22544A-7EE6-4342-B048-85BDC9FD1C3A}</a:tableStyleId>
              </a:tblPr>
              <a:tblGrid>
                <a:gridCol w="2413988">
                  <a:extLst>
                    <a:ext uri="{9D8B030D-6E8A-4147-A177-3AD203B41FA5}">
                      <a16:colId xmlns:a16="http://schemas.microsoft.com/office/drawing/2014/main" val="3614485084"/>
                    </a:ext>
                  </a:extLst>
                </a:gridCol>
                <a:gridCol w="2467897">
                  <a:extLst>
                    <a:ext uri="{9D8B030D-6E8A-4147-A177-3AD203B41FA5}">
                      <a16:colId xmlns:a16="http://schemas.microsoft.com/office/drawing/2014/main" val="1622211935"/>
                    </a:ext>
                  </a:extLst>
                </a:gridCol>
                <a:gridCol w="1245324">
                  <a:extLst>
                    <a:ext uri="{9D8B030D-6E8A-4147-A177-3AD203B41FA5}">
                      <a16:colId xmlns:a16="http://schemas.microsoft.com/office/drawing/2014/main" val="381395657"/>
                    </a:ext>
                  </a:extLst>
                </a:gridCol>
                <a:gridCol w="979627">
                  <a:extLst>
                    <a:ext uri="{9D8B030D-6E8A-4147-A177-3AD203B41FA5}">
                      <a16:colId xmlns:a16="http://schemas.microsoft.com/office/drawing/2014/main" val="3319258410"/>
                    </a:ext>
                  </a:extLst>
                </a:gridCol>
                <a:gridCol w="1493072">
                  <a:extLst>
                    <a:ext uri="{9D8B030D-6E8A-4147-A177-3AD203B41FA5}">
                      <a16:colId xmlns:a16="http://schemas.microsoft.com/office/drawing/2014/main" val="1145566656"/>
                    </a:ext>
                  </a:extLst>
                </a:gridCol>
                <a:gridCol w="1493072">
                  <a:extLst>
                    <a:ext uri="{9D8B030D-6E8A-4147-A177-3AD203B41FA5}">
                      <a16:colId xmlns:a16="http://schemas.microsoft.com/office/drawing/2014/main" val="3488702739"/>
                    </a:ext>
                  </a:extLst>
                </a:gridCol>
              </a:tblGrid>
              <a:tr h="292384">
                <a:tc rowSpan="2">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Paper Ref.</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rowSpan="2">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Algorithms</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gridSpan="3">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Performance  metrics</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hMerge="1">
                  <a:txBody>
                    <a:bodyPr/>
                    <a:lstStyle/>
                    <a:p>
                      <a:endParaRPr lang="en-US"/>
                    </a:p>
                  </a:txBody>
                  <a:tcPr/>
                </a:tc>
                <a:tc hMerge="1">
                  <a:txBody>
                    <a:bodyPr/>
                    <a:lstStyle/>
                    <a:p>
                      <a:endParaRPr lang="en-US"/>
                    </a:p>
                  </a:txBody>
                  <a:tcPr/>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Datasets Used</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2793204066"/>
                  </a:ext>
                </a:extLst>
              </a:tr>
              <a:tr h="272929">
                <a:tc vMerge="1">
                  <a:txBody>
                    <a:bodyPr/>
                    <a:lstStyle/>
                    <a:p>
                      <a:endParaRPr lang="en-US"/>
                    </a:p>
                  </a:txBody>
                  <a:tcPr/>
                </a:tc>
                <a:tc vMerge="1">
                  <a:txBody>
                    <a:bodyPr/>
                    <a:lstStyle/>
                    <a:p>
                      <a:endParaRPr lang="en-US"/>
                    </a:p>
                  </a:txBody>
                  <a:tcPr/>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Acc.</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Prec.</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F1-Score</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Other</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1518071529"/>
                  </a:ext>
                </a:extLst>
              </a:tr>
              <a:tr h="292384">
                <a:tc rowSpan="3">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PROPOSED Methodology</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One Class-SVM</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0.69</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1.00</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0.69</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rowSpan="3">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BETH</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2092412954"/>
                  </a:ext>
                </a:extLst>
              </a:tr>
              <a:tr h="264287">
                <a:tc vMerge="1">
                  <a:txBody>
                    <a:bodyPr/>
                    <a:lstStyle/>
                    <a:p>
                      <a:endParaRPr lang="en-US"/>
                    </a:p>
                  </a:txBody>
                  <a:tcPr/>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Isolation Forest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0.90</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1.00</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0.90</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vMerge="1">
                  <a:txBody>
                    <a:bodyPr/>
                    <a:lstStyle/>
                    <a:p>
                      <a:endParaRPr lang="en-US"/>
                    </a:p>
                  </a:txBody>
                  <a:tcPr/>
                </a:tc>
                <a:extLst>
                  <a:ext uri="{0D108BD9-81ED-4DB2-BD59-A6C34878D82A}">
                    <a16:rowId xmlns:a16="http://schemas.microsoft.com/office/drawing/2014/main" val="3674086442"/>
                  </a:ext>
                </a:extLst>
              </a:tr>
              <a:tr h="292384">
                <a:tc vMerge="1">
                  <a:txBody>
                    <a:bodyPr/>
                    <a:lstStyle/>
                    <a:p>
                      <a:endParaRPr lang="en-US"/>
                    </a:p>
                  </a:txBody>
                  <a:tcPr/>
                </a:tc>
                <a:tc>
                  <a:txBody>
                    <a:bodyPr/>
                    <a:lstStyle/>
                    <a:p>
                      <a:pPr marL="0" marR="0" algn="just">
                        <a:lnSpc>
                          <a:spcPct val="150000"/>
                        </a:lnSpc>
                        <a:buNone/>
                      </a:pPr>
                      <a:r>
                        <a:rPr lang="en-US" sz="1400">
                          <a:effectLst/>
                          <a:highlight>
                            <a:srgbClr val="FFFF00"/>
                          </a:highlight>
                          <a:latin typeface="Times New Roman" panose="02020603050405020304" pitchFamily="18" charset="0"/>
                          <a:cs typeface="Times New Roman" panose="02020603050405020304" pitchFamily="18" charset="0"/>
                        </a:rPr>
                        <a:t>Local outlier Factor</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highlight>
                            <a:srgbClr val="FFFF00"/>
                          </a:highlight>
                          <a:latin typeface="Times New Roman" panose="02020603050405020304" pitchFamily="18" charset="0"/>
                          <a:cs typeface="Times New Roman" panose="02020603050405020304" pitchFamily="18" charset="0"/>
                        </a:rPr>
                        <a:t>0.95</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highlight>
                            <a:srgbClr val="FFFF00"/>
                          </a:highlight>
                          <a:latin typeface="Times New Roman" panose="02020603050405020304" pitchFamily="18" charset="0"/>
                          <a:cs typeface="Times New Roman" panose="02020603050405020304" pitchFamily="18" charset="0"/>
                        </a:rPr>
                        <a:t>1.00</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highlight>
                            <a:srgbClr val="FFFF00"/>
                          </a:highlight>
                          <a:latin typeface="Times New Roman" panose="02020603050405020304" pitchFamily="18" charset="0"/>
                          <a:cs typeface="Times New Roman" panose="02020603050405020304" pitchFamily="18" charset="0"/>
                        </a:rPr>
                        <a:t>0.95</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vMerge="1">
                  <a:txBody>
                    <a:bodyPr/>
                    <a:lstStyle/>
                    <a:p>
                      <a:endParaRPr lang="en-US"/>
                    </a:p>
                  </a:txBody>
                  <a:tcPr/>
                </a:tc>
                <a:extLst>
                  <a:ext uri="{0D108BD9-81ED-4DB2-BD59-A6C34878D82A}">
                    <a16:rowId xmlns:a16="http://schemas.microsoft.com/office/drawing/2014/main" val="1163776288"/>
                  </a:ext>
                </a:extLst>
              </a:tr>
              <a:tr h="564967">
                <a:tc>
                  <a:txBody>
                    <a:bodyPr/>
                    <a:lstStyle/>
                    <a:p>
                      <a:pPr marL="0" marR="0" algn="just">
                        <a:lnSpc>
                          <a:spcPct val="150000"/>
                        </a:lnSpc>
                        <a:buNone/>
                      </a:pPr>
                      <a:r>
                        <a:rPr lang="en-US" sz="1400" u="sng" dirty="0">
                          <a:effectLst/>
                          <a:latin typeface="Times New Roman" panose="02020603050405020304" pitchFamily="18" charset="0"/>
                          <a:cs typeface="Times New Roman" panose="02020603050405020304" pitchFamily="18" charset="0"/>
                          <a:hlinkClick r:id="rId2" action="ppaction://hlinkfile"/>
                        </a:rPr>
                        <a:t>[12]</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Federated learning, LSTM</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0.99</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0.87</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0.92</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HDFS</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3333576925"/>
                  </a:ext>
                </a:extLst>
              </a:tr>
              <a:tr h="564967">
                <a:tc>
                  <a:txBody>
                    <a:bodyPr/>
                    <a:lstStyle/>
                    <a:p>
                      <a:pPr marL="0" marR="0" algn="just">
                        <a:lnSpc>
                          <a:spcPct val="150000"/>
                        </a:lnSpc>
                        <a:buNone/>
                      </a:pPr>
                      <a:r>
                        <a:rPr lang="en-US" sz="1400" u="sng">
                          <a:effectLst/>
                          <a:latin typeface="Times New Roman" panose="02020603050405020304" pitchFamily="18" charset="0"/>
                          <a:cs typeface="Times New Roman" panose="02020603050405020304" pitchFamily="18" charset="0"/>
                          <a:hlinkClick r:id="rId3" action="ppaction://hlinkfile"/>
                        </a:rPr>
                        <a:t>[13]</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Ensemble Autoencoder</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CERTr4.2</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1107023993"/>
                  </a:ext>
                </a:extLst>
              </a:tr>
              <a:tr h="292384">
                <a:tc>
                  <a:txBody>
                    <a:bodyPr/>
                    <a:lstStyle/>
                    <a:p>
                      <a:pPr marL="0" marR="0" algn="just">
                        <a:lnSpc>
                          <a:spcPct val="150000"/>
                        </a:lnSpc>
                        <a:buNone/>
                      </a:pPr>
                      <a:r>
                        <a:rPr lang="en-US" sz="1400" u="sng">
                          <a:effectLst/>
                          <a:latin typeface="Times New Roman" panose="02020603050405020304" pitchFamily="18" charset="0"/>
                          <a:cs typeface="Times New Roman" panose="02020603050405020304" pitchFamily="18" charset="0"/>
                          <a:hlinkClick r:id="rId4" action="ppaction://hlinkfile"/>
                        </a:rPr>
                        <a:t>[14]</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Elliptic Envelope</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0.4</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CERTr6.2</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2823670415"/>
                  </a:ext>
                </a:extLst>
              </a:tr>
              <a:tr h="292384">
                <a:tc>
                  <a:txBody>
                    <a:bodyPr/>
                    <a:lstStyle/>
                    <a:p>
                      <a:pPr marL="0" marR="0" algn="just">
                        <a:lnSpc>
                          <a:spcPct val="150000"/>
                        </a:lnSpc>
                        <a:buNone/>
                      </a:pPr>
                      <a:r>
                        <a:rPr lang="en-US" sz="1400" u="sng">
                          <a:effectLst/>
                          <a:latin typeface="Times New Roman" panose="02020603050405020304" pitchFamily="18" charset="0"/>
                          <a:cs typeface="Times New Roman" panose="02020603050405020304" pitchFamily="18" charset="0"/>
                          <a:hlinkClick r:id="rId5" action="ppaction://hlinkfile"/>
                        </a:rPr>
                        <a:t>[15]</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Random Forest </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0.87</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TWOS&amp; Enron</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3076428784"/>
                  </a:ext>
                </a:extLst>
              </a:tr>
              <a:tr h="264287">
                <a:tc>
                  <a:txBody>
                    <a:bodyPr/>
                    <a:lstStyle/>
                    <a:p>
                      <a:pPr marL="0" marR="0" algn="just">
                        <a:lnSpc>
                          <a:spcPct val="150000"/>
                        </a:lnSpc>
                        <a:buNone/>
                      </a:pPr>
                      <a:r>
                        <a:rPr lang="en-US" sz="1400" u="sng">
                          <a:effectLst/>
                          <a:latin typeface="Times New Roman" panose="02020603050405020304" pitchFamily="18" charset="0"/>
                          <a:cs typeface="Times New Roman" panose="02020603050405020304" pitchFamily="18" charset="0"/>
                          <a:hlinkClick r:id="rId6" action="ppaction://hlinkfile"/>
                        </a:rPr>
                        <a:t>[16]</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CNN</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0.98</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0.98</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0.98</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TWOS</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1758065500"/>
                  </a:ext>
                </a:extLst>
              </a:tr>
              <a:tr h="865646">
                <a:tc>
                  <a:txBody>
                    <a:bodyPr/>
                    <a:lstStyle/>
                    <a:p>
                      <a:pPr marL="0" marR="0" algn="just">
                        <a:lnSpc>
                          <a:spcPct val="150000"/>
                        </a:lnSpc>
                        <a:buNone/>
                      </a:pPr>
                      <a:r>
                        <a:rPr lang="en-US" sz="1400" u="sng">
                          <a:effectLst/>
                          <a:latin typeface="Times New Roman" panose="02020603050405020304" pitchFamily="18" charset="0"/>
                          <a:cs typeface="Times New Roman" panose="02020603050405020304" pitchFamily="18" charset="0"/>
                          <a:hlinkClick r:id="rId7" action="ppaction://hlinkfile"/>
                        </a:rPr>
                        <a:t>[17]</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COPOD (Copula Based Outlier Detection )</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0.98</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0.98</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2421393842"/>
                  </a:ext>
                </a:extLst>
              </a:tr>
              <a:tr h="292384">
                <a:tc>
                  <a:txBody>
                    <a:bodyPr/>
                    <a:lstStyle/>
                    <a:p>
                      <a:pPr marL="0" marR="0" algn="just">
                        <a:lnSpc>
                          <a:spcPct val="150000"/>
                        </a:lnSpc>
                        <a:buNone/>
                      </a:pPr>
                      <a:r>
                        <a:rPr lang="en-US" sz="1400" u="sng">
                          <a:effectLst/>
                          <a:latin typeface="Times New Roman" panose="02020603050405020304" pitchFamily="18" charset="0"/>
                          <a:cs typeface="Times New Roman" panose="02020603050405020304" pitchFamily="18" charset="0"/>
                          <a:hlinkClick r:id="rId8" action="ppaction://hlinkfile"/>
                        </a:rPr>
                        <a:t>[18]</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BERT &amp; Bi-LSTM</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0.94</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1243433588"/>
                  </a:ext>
                </a:extLst>
              </a:tr>
              <a:tr h="264467">
                <a:tc rowSpan="3">
                  <a:txBody>
                    <a:bodyPr/>
                    <a:lstStyle/>
                    <a:p>
                      <a:pPr marL="0" marR="0" algn="just">
                        <a:lnSpc>
                          <a:spcPct val="150000"/>
                        </a:lnSpc>
                        <a:buNone/>
                      </a:pPr>
                      <a:r>
                        <a:rPr lang="en-US" sz="1400" u="sng">
                          <a:effectLst/>
                          <a:latin typeface="Times New Roman" panose="02020603050405020304" pitchFamily="18" charset="0"/>
                          <a:cs typeface="Times New Roman" panose="02020603050405020304" pitchFamily="18" charset="0"/>
                          <a:hlinkClick r:id="rId9" action="ppaction://hlinkfile"/>
                        </a:rPr>
                        <a:t>[7]</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TST</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0.92</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microgrid</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2278448916"/>
                  </a:ext>
                </a:extLst>
              </a:tr>
              <a:tr h="264287">
                <a:tc vMerge="1">
                  <a:txBody>
                    <a:bodyPr/>
                    <a:lstStyle/>
                    <a:p>
                      <a:endParaRPr lang="en-US"/>
                    </a:p>
                  </a:txBody>
                  <a:tcPr/>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NB</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0.93</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0.94</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0.93</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microgrid</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2131876809"/>
                  </a:ext>
                </a:extLst>
              </a:tr>
              <a:tr h="264287">
                <a:tc vMerge="1">
                  <a:txBody>
                    <a:bodyPr/>
                    <a:lstStyle/>
                    <a:p>
                      <a:endParaRPr lang="en-US"/>
                    </a:p>
                  </a:txBody>
                  <a:tcPr/>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SVM</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0.89</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0.92</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a:effectLst/>
                          <a:latin typeface="Times New Roman" panose="02020603050405020304" pitchFamily="18" charset="0"/>
                          <a:cs typeface="Times New Roman" panose="02020603050405020304" pitchFamily="18" charset="0"/>
                        </a:rPr>
                        <a:t>0.89</a:t>
                      </a:r>
                      <a:endParaRPr lang="en-US"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tc>
                  <a:txBody>
                    <a:bodyPr/>
                    <a:lstStyle/>
                    <a:p>
                      <a:pPr marL="0" marR="0" algn="just">
                        <a:lnSpc>
                          <a:spcPct val="150000"/>
                        </a:lnSpc>
                        <a:buNone/>
                      </a:pPr>
                      <a:r>
                        <a:rPr lang="en-US" sz="1400" dirty="0">
                          <a:effectLst/>
                          <a:latin typeface="Times New Roman" panose="02020603050405020304" pitchFamily="18" charset="0"/>
                          <a:cs typeface="Times New Roman" panose="02020603050405020304" pitchFamily="18" charset="0"/>
                        </a:rPr>
                        <a:t>microgrid</a:t>
                      </a:r>
                      <a:endParaRPr lang="en-US"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36712" marR="36712" marT="0" marB="0"/>
                </a:tc>
                <a:extLst>
                  <a:ext uri="{0D108BD9-81ED-4DB2-BD59-A6C34878D82A}">
                    <a16:rowId xmlns:a16="http://schemas.microsoft.com/office/drawing/2014/main" val="100873136"/>
                  </a:ext>
                </a:extLst>
              </a:tr>
            </a:tbl>
          </a:graphicData>
        </a:graphic>
      </p:graphicFrame>
    </p:spTree>
    <p:extLst>
      <p:ext uri="{BB962C8B-B14F-4D97-AF65-F5344CB8AC3E}">
        <p14:creationId xmlns:p14="http://schemas.microsoft.com/office/powerpoint/2010/main" val="129766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0CDD-4EED-DEDF-F223-EB388DC0575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br>
              <a:rPr lang="en-US" dirty="0"/>
            </a:br>
            <a:endParaRPr lang="en-US" dirty="0"/>
          </a:p>
        </p:txBody>
      </p:sp>
      <p:sp>
        <p:nvSpPr>
          <p:cNvPr id="3" name="Content Placeholder 2">
            <a:extLst>
              <a:ext uri="{FF2B5EF4-FFF2-40B4-BE49-F238E27FC236}">
                <a16:creationId xmlns:a16="http://schemas.microsoft.com/office/drawing/2014/main" id="{3560A650-33BD-DCE7-9C6C-2C101FF5C8C6}"/>
              </a:ext>
            </a:extLst>
          </p:cNvPr>
          <p:cNvSpPr>
            <a:spLocks noGrp="1"/>
          </p:cNvSpPr>
          <p:nvPr>
            <p:ph idx="1"/>
          </p:nvPr>
        </p:nvSpPr>
        <p:spPr>
          <a:xfrm>
            <a:off x="1371600" y="1474839"/>
            <a:ext cx="9601200" cy="4392561"/>
          </a:xfrm>
        </p:spPr>
        <p:txBody>
          <a:bodyPr>
            <a:normAutofit/>
          </a:bodyPr>
          <a:lstStyle/>
          <a:p>
            <a:pPr marL="412115" marR="24130" indent="-285750" algn="just">
              <a:lnSpc>
                <a:spcPct val="95000"/>
              </a:lnSpc>
              <a:spcBef>
                <a:spcPts val="400"/>
              </a:spcBef>
            </a:pPr>
            <a:r>
              <a:rPr lang="en-US" sz="1800" dirty="0">
                <a:effectLst/>
                <a:latin typeface="Times New Roman" panose="02020603050405020304" pitchFamily="18" charset="0"/>
                <a:ea typeface="Times New Roman" panose="02020603050405020304" pitchFamily="18" charset="0"/>
              </a:rPr>
              <a:t>The machine learning based approach significantly outperforms traditional models by combining multiple learning</a:t>
            </a:r>
            <a:r>
              <a:rPr lang="en-US" sz="1800" spc="4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algorithms, leading to more precise anomaly detection in endpoint logs. This improvement is particularly evident when dealing with diverse types of abnormal behaviors that may go unnoticed by single models. </a:t>
            </a:r>
          </a:p>
          <a:p>
            <a:pPr marL="412115" marR="24130" indent="-285750" algn="just">
              <a:lnSpc>
                <a:spcPct val="95000"/>
              </a:lnSpc>
              <a:spcBef>
                <a:spcPts val="400"/>
              </a:spcBef>
            </a:pPr>
            <a:r>
              <a:rPr lang="en-US" sz="1800" dirty="0">
                <a:effectLst/>
                <a:latin typeface="Times New Roman" panose="02020603050405020304" pitchFamily="18" charset="0"/>
                <a:ea typeface="Times New Roman" panose="02020603050405020304" pitchFamily="18" charset="0"/>
              </a:rPr>
              <a:t>By integrating</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multiple</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algorithms,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machine</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learning</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method offers scalability and flexibility in adapting to large and complex datasets. It can handle a variety of log formats, making</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applicable</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across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different</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industries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cases, from cybersecurity to system performance</a:t>
            </a:r>
            <a:r>
              <a:rPr lang="en-US" sz="1800"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monitoring.</a:t>
            </a:r>
          </a:p>
          <a:p>
            <a:pPr marL="412115" marR="24765" indent="-285750" algn="just">
              <a:lnSpc>
                <a:spcPct val="95000"/>
              </a:lnSpc>
              <a:spcBef>
                <a:spcPts val="605"/>
              </a:spcBef>
            </a:pPr>
            <a:r>
              <a:rPr lang="en-US" sz="1800" dirty="0">
                <a:effectLst/>
                <a:latin typeface="Times New Roman" panose="02020603050405020304" pitchFamily="18" charset="0"/>
                <a:ea typeface="Times New Roman" panose="02020603050405020304" pitchFamily="18" charset="0"/>
              </a:rPr>
              <a:t>Among the three classifiers, Local Outlier Factor (LOF) achieved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highest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accuracy</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(95%),</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proving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most effective model for detecting anomalies in endpoint security logs. Isolation Forest (90%) also performed well, demonstrating its ability to detect suspicious patterns efficiently. One-Class SVM (68.84%), although useful, showed lower accuracy, highlighting its limitations in handling complex endpoint log distributions.</a:t>
            </a:r>
          </a:p>
          <a:p>
            <a:endParaRPr lang="en-US" dirty="0"/>
          </a:p>
        </p:txBody>
      </p:sp>
    </p:spTree>
    <p:extLst>
      <p:ext uri="{BB962C8B-B14F-4D97-AF65-F5344CB8AC3E}">
        <p14:creationId xmlns:p14="http://schemas.microsoft.com/office/powerpoint/2010/main" val="2539667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3E1D-FF2D-50E3-FCAC-BEEB30C845A0}"/>
              </a:ext>
            </a:extLst>
          </p:cNvPr>
          <p:cNvSpPr>
            <a:spLocks noGrp="1"/>
          </p:cNvSpPr>
          <p:nvPr>
            <p:ph type="title"/>
          </p:nvPr>
        </p:nvSpPr>
        <p:spPr>
          <a:xfrm>
            <a:off x="1371600" y="462117"/>
            <a:ext cx="9601200" cy="766916"/>
          </a:xfrm>
        </p:spPr>
        <p:txBody>
          <a:bodyPr/>
          <a:lstStyle/>
          <a:p>
            <a:r>
              <a:rPr lang="en-US" dirty="0">
                <a:latin typeface="Times New Roman" panose="02020603050405020304" pitchFamily="18" charset="0"/>
                <a:cs typeface="Times New Roman" panose="02020603050405020304" pitchFamily="18" charset="0"/>
              </a:rPr>
              <a:t>References</a:t>
            </a:r>
            <a:r>
              <a:rPr lang="en-US" dirty="0"/>
              <a:t> </a:t>
            </a:r>
          </a:p>
        </p:txBody>
      </p:sp>
      <p:sp>
        <p:nvSpPr>
          <p:cNvPr id="3" name="Content Placeholder 2">
            <a:extLst>
              <a:ext uri="{FF2B5EF4-FFF2-40B4-BE49-F238E27FC236}">
                <a16:creationId xmlns:a16="http://schemas.microsoft.com/office/drawing/2014/main" id="{048AE044-D03A-B037-E18F-DD205394C329}"/>
              </a:ext>
            </a:extLst>
          </p:cNvPr>
          <p:cNvSpPr>
            <a:spLocks noGrp="1"/>
          </p:cNvSpPr>
          <p:nvPr>
            <p:ph idx="1"/>
          </p:nvPr>
        </p:nvSpPr>
        <p:spPr>
          <a:xfrm>
            <a:off x="1194619" y="1130710"/>
            <a:ext cx="9601200" cy="5265173"/>
          </a:xfrm>
        </p:spPr>
        <p:txBody>
          <a:bodyPr>
            <a:normAutofit fontScale="92500" lnSpcReduction="10000"/>
          </a:bodyPr>
          <a:lstStyle/>
          <a:p>
            <a:pPr marR="24130" algn="just">
              <a:lnSpc>
                <a:spcPct val="97000"/>
              </a:lnSpc>
              <a:buSzPts val="800"/>
              <a:buFont typeface="Wingdings" panose="05000000000000000000" pitchFamily="2" charset="2"/>
              <a:buChar char="q"/>
              <a:tabLst>
                <a:tab pos="350520" algn="l"/>
                <a:tab pos="353060" algn="l"/>
              </a:tabLst>
            </a:pP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L. A.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Jilcha</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D. -H. Kim and J. Kwak,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SaRLog</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Semantic-Aware</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Robust Log Anomaly Detection via BERT-Augmented Contrastive</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Learning," in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IEEE Internet of Things Journal</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vol. 11, no. 13, pp.</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23727-23736, 1 July1, 2024,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doi</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10.1109/JIOT.2024.3386183.</a:t>
            </a:r>
          </a:p>
          <a:p>
            <a:pPr marR="24765" algn="just">
              <a:lnSpc>
                <a:spcPct val="97000"/>
              </a:lnSpc>
              <a:spcBef>
                <a:spcPts val="245"/>
              </a:spcBef>
              <a:buSzPts val="800"/>
              <a:buFont typeface="Wingdings" panose="05000000000000000000" pitchFamily="2" charset="2"/>
              <a:buChar char="q"/>
              <a:tabLst>
                <a:tab pos="353060" algn="l"/>
                <a:tab pos="354965" algn="l"/>
              </a:tabLst>
            </a:pP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Kaya, Yigitcan, et al. "Demystifying behavior-based malware</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detection at endpoints." </a:t>
            </a:r>
            <a:r>
              <a:rPr lang="en-US" sz="1800" i="1" spc="-5" dirty="0" err="1">
                <a:effectLst/>
                <a:latin typeface="Times New Roman" panose="02020603050405020304" pitchFamily="18" charset="0"/>
                <a:ea typeface="Times New Roman" panose="02020603050405020304" pitchFamily="18" charset="0"/>
                <a:cs typeface="Times New Roman" panose="02020603050405020304" pitchFamily="18" charset="0"/>
              </a:rPr>
              <a:t>arXiv</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 preprint arXiv:2405.06124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(2024).</a:t>
            </a:r>
          </a:p>
          <a:p>
            <a:pPr marR="26670" algn="just">
              <a:lnSpc>
                <a:spcPct val="97000"/>
              </a:lnSpc>
              <a:spcBef>
                <a:spcPts val="240"/>
              </a:spcBef>
              <a:buSzPts val="800"/>
              <a:buFont typeface="Wingdings" panose="05000000000000000000" pitchFamily="2" charset="2"/>
              <a:buChar char="q"/>
              <a:tabLst>
                <a:tab pos="350520" algn="l"/>
                <a:tab pos="353060" algn="l"/>
              </a:tabLst>
            </a:pP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Kale, Rahul, et al. "A hybrid deep learning anomaly detection</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framework for</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intrusion</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detection."</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2022</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IEEE</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8th</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Intl</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Conference</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on</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Big Data Security on Cloud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BigDataSecurity</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IEEE Intl Conference</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on High Performance and Smart Computing,(HPSC) and IEEE Intl</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Conference on Intelligent Data and Security (IDS). IEEE, 2022.</a:t>
            </a:r>
          </a:p>
          <a:p>
            <a:pPr marR="24765" algn="just">
              <a:lnSpc>
                <a:spcPct val="97000"/>
              </a:lnSpc>
              <a:spcBef>
                <a:spcPts val="240"/>
              </a:spcBef>
              <a:buSzPts val="800"/>
              <a:buFont typeface="Wingdings" panose="05000000000000000000" pitchFamily="2" charset="2"/>
              <a:buChar char="q"/>
              <a:tabLst>
                <a:tab pos="350520" algn="l"/>
                <a:tab pos="353060" algn="l"/>
              </a:tabLst>
            </a:pP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Mehrnoosh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Navidimehr</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Ali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Mojahed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Khalilabad, Haleh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Amintoosi</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Mohammad</a:t>
            </a:r>
            <a:r>
              <a:rPr lang="en-US"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Allahbakhsh,</a:t>
            </a:r>
            <a:r>
              <a:rPr lang="en-US"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LPWAN-Based</a:t>
            </a:r>
            <a:r>
              <a:rPr lang="en-US" sz="1800" spc="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Framework</a:t>
            </a:r>
            <a:r>
              <a:rPr lang="en-US" sz="18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1800"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err="1">
                <a:effectLst/>
                <a:latin typeface="Times New Roman" panose="02020603050405020304" pitchFamily="18" charset="0"/>
                <a:ea typeface="Times New Roman" panose="02020603050405020304" pitchFamily="18" charset="0"/>
                <a:cs typeface="Times New Roman" panose="02020603050405020304" pitchFamily="18" charset="0"/>
              </a:rPr>
              <a:t>Food</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Supply</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Chain Management Using Blockchain and Federated Multi-</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Task Learning",</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2024 8th International Conference on Smart Cities,</a:t>
            </a:r>
            <a:r>
              <a:rPr lang="en-US" sz="1800" i="1"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Internet of Things and Applications (</a:t>
            </a:r>
            <a:r>
              <a:rPr lang="en-US" sz="1800" i="1" spc="-5" dirty="0" err="1">
                <a:effectLst/>
                <a:latin typeface="Times New Roman" panose="02020603050405020304" pitchFamily="18" charset="0"/>
                <a:ea typeface="Times New Roman" panose="02020603050405020304" pitchFamily="18" charset="0"/>
                <a:cs typeface="Times New Roman" panose="02020603050405020304" pitchFamily="18" charset="0"/>
              </a:rPr>
              <a:t>SCIoT</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pp.207-212, 2024.</a:t>
            </a:r>
          </a:p>
          <a:p>
            <a:pPr marR="34925" algn="just">
              <a:lnSpc>
                <a:spcPct val="97000"/>
              </a:lnSpc>
              <a:spcBef>
                <a:spcPts val="250"/>
              </a:spcBef>
              <a:buSzPts val="800"/>
              <a:buFont typeface="Wingdings" panose="05000000000000000000" pitchFamily="2" charset="2"/>
              <a:buChar char="q"/>
              <a:tabLst>
                <a:tab pos="349885" algn="l"/>
                <a:tab pos="353060" algn="l"/>
              </a:tabLst>
            </a:pP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Stein, Jonas, et al. "Exploring unsupervised anomaly detection with</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quantum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boltzmann</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machines in fraud detection." </a:t>
            </a:r>
            <a:r>
              <a:rPr lang="en-US" sz="1800" i="1" spc="-5" dirty="0" err="1">
                <a:effectLst/>
                <a:latin typeface="Times New Roman" panose="02020603050405020304" pitchFamily="18" charset="0"/>
                <a:ea typeface="Times New Roman" panose="02020603050405020304" pitchFamily="18" charset="0"/>
                <a:cs typeface="Times New Roman" panose="02020603050405020304" pitchFamily="18" charset="0"/>
              </a:rPr>
              <a:t>arXiv</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 preprint</a:t>
            </a:r>
            <a:r>
              <a:rPr lang="en-US" sz="1800" i="1"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arXiv:2306.04998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(2023).</a:t>
            </a:r>
          </a:p>
          <a:p>
            <a:pPr marR="32385" algn="just">
              <a:lnSpc>
                <a:spcPct val="97000"/>
              </a:lnSpc>
              <a:spcBef>
                <a:spcPts val="245"/>
              </a:spcBef>
              <a:buSzPts val="800"/>
              <a:buFont typeface="Wingdings" panose="05000000000000000000" pitchFamily="2" charset="2"/>
              <a:buChar char="q"/>
              <a:tabLst>
                <a:tab pos="353695" algn="l"/>
                <a:tab pos="354965" algn="l"/>
              </a:tabLst>
            </a:pP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Hashemi, Shayan, and Mika Mäntylä.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OneLog</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towards end-to-end</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software</a:t>
            </a:r>
            <a:r>
              <a:rPr lang="en-US" sz="1800" spc="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log</a:t>
            </a:r>
            <a:r>
              <a:rPr lang="en-US" sz="1800" spc="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anomaly</a:t>
            </a:r>
            <a:r>
              <a:rPr lang="en-US" sz="1800" spc="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detection."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Automated</a:t>
            </a:r>
            <a:r>
              <a:rPr lang="en-US" sz="1800" i="1" spc="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Software</a:t>
            </a:r>
            <a:r>
              <a:rPr lang="en-US" sz="1800" i="1"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Engineering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31.2 (2024): 37.</a:t>
            </a:r>
          </a:p>
          <a:p>
            <a:pPr marR="31115" algn="just">
              <a:lnSpc>
                <a:spcPct val="97000"/>
              </a:lnSpc>
              <a:spcBef>
                <a:spcPts val="250"/>
              </a:spcBef>
              <a:buSzPts val="800"/>
              <a:buFont typeface="Wingdings" panose="05000000000000000000" pitchFamily="2" charset="2"/>
              <a:buChar char="q"/>
              <a:tabLst>
                <a:tab pos="353695" algn="l"/>
                <a:tab pos="354965" algn="l"/>
              </a:tabLst>
            </a:pP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Trivedi, Rohit, Sandipan Patra, and Shafi Khadem. "Data-centric</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explainable artificial intelligence techniques for cyber-attack</a:t>
            </a:r>
            <a:r>
              <a:rPr lang="en-US" sz="1800" spc="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detection in microgrid networks."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Energy Reports</a:t>
            </a:r>
            <a:r>
              <a:rPr lang="en-US" sz="1800" i="1"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13 (2025): 217-</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229.orks</a:t>
            </a:r>
            <a:endPar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34290" algn="just">
              <a:lnSpc>
                <a:spcPct val="97000"/>
              </a:lnSpc>
              <a:spcBef>
                <a:spcPts val="235"/>
              </a:spcBef>
              <a:buSzPts val="800"/>
              <a:buFont typeface="Wingdings" panose="05000000000000000000" pitchFamily="2" charset="2"/>
              <a:buChar char="q"/>
              <a:tabLst>
                <a:tab pos="353695" algn="l"/>
                <a:tab pos="354965" algn="l"/>
              </a:tabLst>
            </a:pP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Ryu,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Seunghyoung</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Yonggyun</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Yu, and </a:t>
            </a:r>
            <a:r>
              <a:rPr lang="en-US" sz="1800" spc="-5" dirty="0" err="1">
                <a:effectLst/>
                <a:latin typeface="Times New Roman" panose="02020603050405020304" pitchFamily="18" charset="0"/>
                <a:ea typeface="Times New Roman" panose="02020603050405020304" pitchFamily="18" charset="0"/>
                <a:cs typeface="Times New Roman" panose="02020603050405020304" pitchFamily="18" charset="0"/>
              </a:rPr>
              <a:t>Hogeon</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Seo. "Can untrained</a:t>
            </a:r>
            <a:r>
              <a:rPr lang="en-US" sz="18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neural networks detect anomalies?."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IEEE Transactions on Industrial</a:t>
            </a:r>
            <a:r>
              <a:rPr lang="en-US" sz="1800" i="1"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spc="-5" dirty="0">
                <a:effectLst/>
                <a:latin typeface="Times New Roman" panose="02020603050405020304" pitchFamily="18" charset="0"/>
                <a:ea typeface="Times New Roman" panose="02020603050405020304" pitchFamily="18" charset="0"/>
                <a:cs typeface="Times New Roman" panose="02020603050405020304" pitchFamily="18" charset="0"/>
              </a:rPr>
              <a:t>Informatics </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20.4 (2024): 6477-6488.</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7482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14CED-2E93-8027-DBF9-B7DB023ABFC3}"/>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04C2AE92-F99A-44BD-15C1-731DA4A93D96}"/>
              </a:ext>
            </a:extLst>
          </p:cNvPr>
          <p:cNvSpPr>
            <a:spLocks noGrp="1"/>
          </p:cNvSpPr>
          <p:nvPr>
            <p:ph type="subTitle" idx="1"/>
          </p:nvPr>
        </p:nvSpPr>
        <p:spPr>
          <a:xfrm flipV="1">
            <a:off x="10441858" y="5819265"/>
            <a:ext cx="593721" cy="80091"/>
          </a:xfrm>
        </p:spPr>
        <p:txBody>
          <a:bodyPr>
            <a:normAutofit fontScale="25000" lnSpcReduction="20000"/>
          </a:bodyPr>
          <a:lstStyle/>
          <a:p>
            <a:endParaRPr lang="en-US" dirty="0"/>
          </a:p>
        </p:txBody>
      </p:sp>
    </p:spTree>
    <p:extLst>
      <p:ext uri="{BB962C8B-B14F-4D97-AF65-F5344CB8AC3E}">
        <p14:creationId xmlns:p14="http://schemas.microsoft.com/office/powerpoint/2010/main" val="13765201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537</TotalTime>
  <Words>1498</Words>
  <Application>Microsoft Office PowerPoint</Application>
  <PresentationFormat>Widescreen</PresentationFormat>
  <Paragraphs>154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Century Gothic</vt:lpstr>
      <vt:lpstr>Franklin Gothic Book</vt:lpstr>
      <vt:lpstr>Times New Roman</vt:lpstr>
      <vt:lpstr>Wingdings</vt:lpstr>
      <vt:lpstr>Wingdings 3</vt:lpstr>
      <vt:lpstr>Ion</vt:lpstr>
      <vt:lpstr>ENHANCING ENDPOINT SECURITY THROUGH AI POWERED ANOMALY DETECTION IN ENDPOINT LOGS USING LOCAL OUTLIER FACTOR (LOF)</vt:lpstr>
      <vt:lpstr>PROBLEM STATEMENT</vt:lpstr>
      <vt:lpstr>EXISTING SYSTEM</vt:lpstr>
      <vt:lpstr>Existing system</vt:lpstr>
      <vt:lpstr>Detailed information about proposed Methodology </vt:lpstr>
      <vt:lpstr>Detailed information about proposed Methodology </vt:lpstr>
      <vt:lpstr>Detailed information about proposed Methodology </vt:lpstr>
      <vt:lpstr>Detailed information about proposed Methodology </vt:lpstr>
      <vt:lpstr>Implementation  ONE CLASS SVM</vt:lpstr>
      <vt:lpstr>Implementation  ISOLATION FOREST</vt:lpstr>
      <vt:lpstr>Implementation LOCAL OUTLIER FACTOR (LOF) </vt:lpstr>
      <vt:lpstr>Implementaion</vt:lpstr>
      <vt:lpstr>COMPARSION TABLE </vt:lpstr>
      <vt:lpstr>Conclusion </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krishna sai</dc:creator>
  <cp:lastModifiedBy>krishna sai</cp:lastModifiedBy>
  <cp:revision>9</cp:revision>
  <dcterms:created xsi:type="dcterms:W3CDTF">2025-03-19T15:49:37Z</dcterms:created>
  <dcterms:modified xsi:type="dcterms:W3CDTF">2025-05-06T06:46:24Z</dcterms:modified>
</cp:coreProperties>
</file>